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5" r:id="rId6"/>
    <p:sldId id="267" r:id="rId7"/>
    <p:sldId id="263" r:id="rId8"/>
    <p:sldId id="268" r:id="rId9"/>
    <p:sldId id="260" r:id="rId10"/>
    <p:sldId id="269" r:id="rId11"/>
    <p:sldId id="270" r:id="rId12"/>
    <p:sldId id="271" r:id="rId13"/>
    <p:sldId id="272" r:id="rId14"/>
    <p:sldId id="273" r:id="rId15"/>
    <p:sldId id="262" r:id="rId16"/>
    <p:sldId id="276" r:id="rId17"/>
    <p:sldId id="264"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1A2E"/>
    <a:srgbClr val="E8A020"/>
    <a:srgbClr val="2E2E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534" autoAdjust="0"/>
  </p:normalViewPr>
  <p:slideViewPr>
    <p:cSldViewPr snapToGrid="0" snapToObjects="1">
      <p:cViewPr varScale="1">
        <p:scale>
          <a:sx n="87" d="100"/>
          <a:sy n="87" d="100"/>
        </p:scale>
        <p:origin x="90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9793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9153E-B636-8933-60CA-AF0318192D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2E7B34-B756-52C8-2859-F7808F1781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7CB8CB-7B25-FFC5-EC98-A79617E846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EDE91A-FD64-CC24-9F11-4658DCDA7770}"/>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3676053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0D35A-9F3B-E4AC-E21B-D38E6F2B5D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C9AFCD-88A1-013A-FD8D-731EE8CFCB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E06AA7-FB94-C235-7683-8E40C7DF1E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8C8C40-5999-34D8-0312-ECD5174CC6C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2541620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9A029-8670-79C6-FF28-D86D215CF7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1EB5C9-8931-6330-1AF9-3BD28275C1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7CC229-84E0-128E-689F-834E500138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81DD99-2ED9-5DA8-63CC-0D0CDE2834AD}"/>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7516629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F1214-FA8C-9873-D9CB-E787706C3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77EB49-825B-9ABC-FBF9-7D4FC977AD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C86EF1-F9C7-86E7-578C-1ED3F84773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71E3E6-DA86-49FB-C105-E317D2A890B5}"/>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9589893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14FAA-5678-6B71-9E76-8811038CF1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E844DB-3A22-BCF0-E89B-B1B569C69A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89891-6035-929B-957C-D51DCC85F6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570B03-6A11-601A-8BB5-EEC8AEA1F9B3}"/>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1039409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310A8-C598-F45A-2869-6A8882A26E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73054E-87FC-9A7E-913F-515E365939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46E9A1-7F76-7462-0677-F4B0CE5ACA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AEED0C-2ECA-17E1-990E-06CFBAE44EF7}"/>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823144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865BA-3F9F-61D0-0F7A-86EEFC3D15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BC1054-3F17-1C7A-A7CA-D1F8864903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01B6E5-9A36-CDA8-3A9D-3815FA3776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E9FA94-97F0-D1E4-4D5C-6CAD03DCCDFA}"/>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1000872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70C8A-6EBB-5EB5-7EE1-82CEF004AE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D4CB8C-1C26-A7D3-CCEC-4A3332299D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3A6AB4-2DEA-929B-365D-D21308BAA6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09E4DB-789A-BFAB-3EC6-746AF26D096E}"/>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3380528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66187-A99E-AE47-8CF9-02803811C4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6C4690-0437-18A2-3EB8-C5D995EAC3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3C6646-7FF2-52A8-DE06-D8530DBF4B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8A94D3-A5F1-59CE-52CA-430B80D19AA6}"/>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9888984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6975F-62C1-3361-E008-60942AC5AD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BC579D-84F8-1CCC-15DC-2879F2AAC3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97789-D6E2-6BC6-E751-DB07686A49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F03D8A-70FE-D8D9-679D-6374F362E6B2}"/>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9948490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5F4A5-D0B3-8CAE-53D3-78608F50DF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1F8250-8FBB-FACF-C0CB-1AA54EB129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BDC245-0EDD-D9DC-C219-9CB101CB49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0EBD66-01C3-0BE6-8AB8-EF2A3AAD1F7C}"/>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1439408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jpg"/></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5" name="Text 3"/>
          <p:cNvSpPr/>
          <p:nvPr/>
        </p:nvSpPr>
        <p:spPr>
          <a:xfrm>
            <a:off x="457200" y="502920"/>
            <a:ext cx="2415209" cy="274320"/>
          </a:xfrm>
          <a:prstGeom prst="rect">
            <a:avLst/>
          </a:prstGeom>
          <a:noFill/>
          <a:ln/>
        </p:spPr>
        <p:txBody>
          <a:bodyPr wrap="square" lIns="0" tIns="0" rIns="0" bIns="0" rtlCol="0" anchor="ctr"/>
          <a:lstStyle/>
          <a:p>
            <a:pPr marL="0" indent="0" algn="l">
              <a:buNone/>
            </a:pPr>
            <a:r>
              <a:rPr lang="en-US" sz="1200" b="1" kern="0" spc="300" dirty="0">
                <a:solidFill>
                  <a:srgbClr val="E8A020"/>
                </a:solidFill>
                <a:latin typeface="Times New Roman" panose="02020603050405020304" pitchFamily="18" charset="0"/>
                <a:cs typeface="Times New Roman" panose="02020603050405020304" pitchFamily="18" charset="0"/>
              </a:rPr>
              <a:t> </a:t>
            </a:r>
          </a:p>
          <a:p>
            <a:pPr marL="0" indent="0" algn="l">
              <a:buNone/>
            </a:pPr>
            <a:r>
              <a:rPr lang="en-US" sz="1200" b="1" kern="0" spc="300" dirty="0">
                <a:solidFill>
                  <a:srgbClr val="E8A020"/>
                </a:solidFill>
                <a:latin typeface="Times New Roman" panose="02020603050405020304" pitchFamily="18" charset="0"/>
                <a:cs typeface="Times New Roman" panose="02020603050405020304" pitchFamily="18" charset="0"/>
              </a:rPr>
              <a:t>HOSPITALITY SECTOR</a:t>
            </a:r>
            <a:endParaRPr lang="en-US" sz="1200" dirty="0">
              <a:latin typeface="Times New Roman" panose="02020603050405020304" pitchFamily="18" charset="0"/>
              <a:cs typeface="Times New Roman" panose="02020603050405020304" pitchFamily="18" charset="0"/>
            </a:endParaRPr>
          </a:p>
        </p:txBody>
      </p:sp>
      <p:sp>
        <p:nvSpPr>
          <p:cNvPr id="6" name="Text 4"/>
          <p:cNvSpPr/>
          <p:nvPr/>
        </p:nvSpPr>
        <p:spPr>
          <a:xfrm>
            <a:off x="457200" y="1826315"/>
            <a:ext cx="6858000" cy="1490870"/>
          </a:xfrm>
          <a:prstGeom prst="rect">
            <a:avLst/>
          </a:prstGeom>
          <a:noFill/>
          <a:ln/>
        </p:spPr>
        <p:txBody>
          <a:bodyPr wrap="square" lIns="0" tIns="0" rIns="0" bIns="0" rtlCol="0" anchor="ctr"/>
          <a:lstStyle/>
          <a:p>
            <a:pPr>
              <a:lnSpc>
                <a:spcPct val="110000"/>
              </a:lnSpc>
            </a:pPr>
            <a:r>
              <a:rPr lang="it-IT" sz="3000" dirty="0">
                <a:solidFill>
                  <a:schemeClr val="bg1"/>
                </a:solidFill>
                <a:latin typeface="Times New Roman" panose="02020603050405020304" pitchFamily="18" charset="0"/>
                <a:cs typeface="Times New Roman" panose="02020603050405020304" pitchFamily="18" charset="0"/>
              </a:rPr>
              <a:t>Analyzing Customer Satisfaction and Service Quality in Selected Hotels in Abuja</a:t>
            </a:r>
            <a:endParaRPr lang="en-US" sz="3000" dirty="0">
              <a:solidFill>
                <a:schemeClr val="bg1"/>
              </a:solidFill>
              <a:latin typeface="Times New Roman" panose="02020603050405020304" pitchFamily="18" charset="0"/>
              <a:cs typeface="Times New Roman" panose="02020603050405020304" pitchFamily="18" charset="0"/>
            </a:endParaRPr>
          </a:p>
        </p:txBody>
      </p:sp>
      <p:sp>
        <p:nvSpPr>
          <p:cNvPr id="15" name="Isosceles Triangle 14">
            <a:extLst>
              <a:ext uri="{FF2B5EF4-FFF2-40B4-BE49-F238E27FC236}">
                <a16:creationId xmlns:a16="http://schemas.microsoft.com/office/drawing/2014/main" id="{E4B146E7-49B8-CFAB-7D40-2DC7B75CCC02}"/>
              </a:ext>
            </a:extLst>
          </p:cNvPr>
          <p:cNvSpPr/>
          <p:nvPr/>
        </p:nvSpPr>
        <p:spPr>
          <a:xfrm rot="10800000">
            <a:off x="7643192" y="-449488"/>
            <a:ext cx="1500808" cy="1226728"/>
          </a:xfrm>
          <a:prstGeom prst="triangle">
            <a:avLst/>
          </a:prstGeom>
          <a:solidFill>
            <a:srgbClr val="E8A020">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7" name="Text 3">
            <a:extLst>
              <a:ext uri="{FF2B5EF4-FFF2-40B4-BE49-F238E27FC236}">
                <a16:creationId xmlns:a16="http://schemas.microsoft.com/office/drawing/2014/main" id="{A01153F6-00CA-D507-BC52-78BC109D21FB}"/>
              </a:ext>
            </a:extLst>
          </p:cNvPr>
          <p:cNvSpPr/>
          <p:nvPr/>
        </p:nvSpPr>
        <p:spPr>
          <a:xfrm>
            <a:off x="3595464" y="4365580"/>
            <a:ext cx="1953067" cy="272492"/>
          </a:xfrm>
          <a:prstGeom prst="rect">
            <a:avLst/>
          </a:prstGeom>
          <a:noFill/>
          <a:ln/>
        </p:spPr>
        <p:txBody>
          <a:bodyPr wrap="square" lIns="0" tIns="0" rIns="0" bIns="0" rtlCol="0" anchor="ctr"/>
          <a:lstStyle/>
          <a:p>
            <a:pPr marL="0" indent="0" algn="l">
              <a:buNone/>
            </a:pPr>
            <a:r>
              <a:rPr lang="en-US" sz="1500" b="1" kern="0" spc="300" dirty="0">
                <a:solidFill>
                  <a:schemeClr val="bg1"/>
                </a:solidFill>
                <a:latin typeface="Times New Roman" panose="02020603050405020304" pitchFamily="18" charset="0"/>
                <a:cs typeface="Times New Roman" panose="02020603050405020304" pitchFamily="18" charset="0"/>
              </a:rPr>
              <a:t>11th June, 2026</a:t>
            </a:r>
            <a:endParaRPr lang="en-US" sz="1500" dirty="0">
              <a:solidFill>
                <a:schemeClr val="bg1"/>
              </a:solidFill>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8899C1B0-A939-B9CC-9BBF-EE4B5281B72B}"/>
              </a:ext>
            </a:extLst>
          </p:cNvPr>
          <p:cNvSpPr/>
          <p:nvPr/>
        </p:nvSpPr>
        <p:spPr>
          <a:xfrm>
            <a:off x="457198" y="4663184"/>
            <a:ext cx="8229600" cy="45719"/>
          </a:xfrm>
          <a:prstGeom prst="rect">
            <a:avLst/>
          </a:prstGeom>
          <a:solidFill>
            <a:srgbClr val="E8A02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9" name="Rectangle 18">
            <a:extLst>
              <a:ext uri="{FF2B5EF4-FFF2-40B4-BE49-F238E27FC236}">
                <a16:creationId xmlns:a16="http://schemas.microsoft.com/office/drawing/2014/main" id="{EFC1C754-C620-3F45-EF2F-F3BE9EB5DA7C}"/>
              </a:ext>
            </a:extLst>
          </p:cNvPr>
          <p:cNvSpPr/>
          <p:nvPr/>
        </p:nvSpPr>
        <p:spPr>
          <a:xfrm>
            <a:off x="457198" y="4289646"/>
            <a:ext cx="8229600" cy="45719"/>
          </a:xfrm>
          <a:prstGeom prst="rect">
            <a:avLst/>
          </a:prstGeom>
          <a:solidFill>
            <a:srgbClr val="E8A02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2E"/>
        </a:solidFill>
        <a:effectLst/>
      </p:bgPr>
    </p:bg>
    <p:spTree>
      <p:nvGrpSpPr>
        <p:cNvPr id="1" name=""/>
        <p:cNvGrpSpPr/>
        <p:nvPr/>
      </p:nvGrpSpPr>
      <p:grpSpPr>
        <a:xfrm>
          <a:off x="0" y="0"/>
          <a:ext cx="0" cy="0"/>
          <a:chOff x="0" y="0"/>
          <a:chExt cx="0" cy="0"/>
        </a:xfrm>
      </p:grpSpPr>
      <p:sp>
        <p:nvSpPr>
          <p:cNvPr id="15" name="Shape 0">
            <a:extLst>
              <a:ext uri="{FF2B5EF4-FFF2-40B4-BE49-F238E27FC236}">
                <a16:creationId xmlns:a16="http://schemas.microsoft.com/office/drawing/2014/main" id="{0F4FA606-5D0B-6680-6628-4428981F396E}"/>
              </a:ext>
            </a:extLst>
          </p:cNvPr>
          <p:cNvSpPr/>
          <p:nvPr/>
        </p:nvSpPr>
        <p:spPr>
          <a:xfrm>
            <a:off x="0" y="0"/>
            <a:ext cx="9144000" cy="960120"/>
          </a:xfrm>
          <a:prstGeom prst="rect">
            <a:avLst/>
          </a:prstGeom>
          <a:solidFill>
            <a:srgbClr val="E8A020"/>
          </a:solidFill>
          <a:ln w="12700">
            <a:noFill/>
            <a:prstDash val="solid"/>
          </a:ln>
        </p:spPr>
        <p:txBody>
          <a:bodyPr/>
          <a:lstStyle/>
          <a:p>
            <a:endParaRPr lang="it-IT"/>
          </a:p>
        </p:txBody>
      </p:sp>
      <p:sp>
        <p:nvSpPr>
          <p:cNvPr id="4" name="Text 2"/>
          <p:cNvSpPr/>
          <p:nvPr/>
        </p:nvSpPr>
        <p:spPr>
          <a:xfrm>
            <a:off x="3455668" y="297180"/>
            <a:ext cx="2232660" cy="365760"/>
          </a:xfrm>
          <a:prstGeom prst="rect">
            <a:avLst/>
          </a:prstGeom>
          <a:noFill/>
          <a:ln/>
        </p:spPr>
        <p:txBody>
          <a:bodyPr wrap="square" lIns="0" tIns="0" rIns="0" bIns="0" rtlCol="0" anchor="ctr"/>
          <a:lstStyle/>
          <a:p>
            <a:pPr marL="0" indent="0">
              <a:buNone/>
            </a:pPr>
            <a:r>
              <a:rPr lang="en-US" b="1" kern="0" spc="200" dirty="0">
                <a:solidFill>
                  <a:srgbClr val="1A1A2E"/>
                </a:solidFill>
                <a:latin typeface="Times New Roman" panose="02020603050405020304" pitchFamily="18" charset="0"/>
                <a:cs typeface="Times New Roman" panose="02020603050405020304" pitchFamily="18" charset="0"/>
              </a:rPr>
              <a:t>PROJECT TOPIC</a:t>
            </a:r>
            <a:endParaRPr lang="en-US" dirty="0">
              <a:solidFill>
                <a:srgbClr val="1A1A2E"/>
              </a:solidFill>
              <a:latin typeface="Times New Roman" panose="02020603050405020304" pitchFamily="18" charset="0"/>
              <a:cs typeface="Times New Roman" panose="02020603050405020304" pitchFamily="18" charset="0"/>
            </a:endParaRPr>
          </a:p>
        </p:txBody>
      </p:sp>
      <p:sp>
        <p:nvSpPr>
          <p:cNvPr id="14" name="Text 4">
            <a:extLst>
              <a:ext uri="{FF2B5EF4-FFF2-40B4-BE49-F238E27FC236}">
                <a16:creationId xmlns:a16="http://schemas.microsoft.com/office/drawing/2014/main" id="{97EBF7B4-5396-7705-F835-DF1083E6EE55}"/>
              </a:ext>
            </a:extLst>
          </p:cNvPr>
          <p:cNvSpPr/>
          <p:nvPr/>
        </p:nvSpPr>
        <p:spPr>
          <a:xfrm>
            <a:off x="1352547" y="1399655"/>
            <a:ext cx="6438902" cy="2434590"/>
          </a:xfrm>
          <a:prstGeom prst="rect">
            <a:avLst/>
          </a:prstGeom>
          <a:noFill/>
          <a:ln/>
        </p:spPr>
        <p:txBody>
          <a:bodyPr wrap="square" lIns="0" tIns="0" rIns="0" bIns="0" rtlCol="0" anchor="ctr"/>
          <a:lstStyle/>
          <a:p>
            <a:pPr>
              <a:lnSpc>
                <a:spcPct val="110000"/>
              </a:lnSpc>
            </a:pPr>
            <a:r>
              <a:rPr lang="it-IT" sz="3800" dirty="0">
                <a:solidFill>
                  <a:schemeClr val="bg1"/>
                </a:solidFill>
                <a:latin typeface="Times New Roman" panose="02020603050405020304" pitchFamily="18" charset="0"/>
                <a:cs typeface="Times New Roman" panose="02020603050405020304" pitchFamily="18" charset="0"/>
              </a:rPr>
              <a:t>Analyzing Customer Satisfaction and Service Quality in Selected Hotels in Abuja</a:t>
            </a:r>
            <a:endParaRPr lang="en-US" sz="3800" dirty="0">
              <a:solidFill>
                <a:schemeClr val="bg1"/>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73BBEBC1-2B0C-91BB-8848-796F8D604B4D}"/>
              </a:ext>
            </a:extLst>
          </p:cNvPr>
          <p:cNvSpPr/>
          <p:nvPr/>
        </p:nvSpPr>
        <p:spPr>
          <a:xfrm>
            <a:off x="0" y="5019675"/>
            <a:ext cx="9144000" cy="126475"/>
          </a:xfrm>
          <a:prstGeom prst="rect">
            <a:avLst/>
          </a:prstGeom>
          <a:solidFill>
            <a:srgbClr val="E8A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7B1549-1FBB-AD69-7CD7-0F99DF4CA6A8}"/>
              </a:ext>
            </a:extLst>
          </p:cNvPr>
          <p:cNvPicPr>
            <a:picLocks noChangeAspect="1"/>
          </p:cNvPicPr>
          <p:nvPr/>
        </p:nvPicPr>
        <p:blipFill>
          <a:blip r:embed="rId3"/>
          <a:stretch>
            <a:fillRect/>
          </a:stretch>
        </p:blipFill>
        <p:spPr>
          <a:xfrm>
            <a:off x="4800600" y="1392384"/>
            <a:ext cx="4333008" cy="3627291"/>
          </a:xfrm>
          <a:prstGeom prst="rect">
            <a:avLst/>
          </a:prstGeom>
          <a:ln w="22225">
            <a:solidFill>
              <a:srgbClr val="E8A020"/>
            </a:solidFill>
          </a:ln>
        </p:spPr>
      </p:pic>
      <p:sp>
        <p:nvSpPr>
          <p:cNvPr id="2" name="Shape 0"/>
          <p:cNvSpPr/>
          <p:nvPr/>
        </p:nvSpPr>
        <p:spPr>
          <a:xfrm>
            <a:off x="0" y="0"/>
            <a:ext cx="9144000" cy="960120"/>
          </a:xfrm>
          <a:prstGeom prst="rect">
            <a:avLst/>
          </a:prstGeom>
          <a:solidFill>
            <a:srgbClr val="16213E"/>
          </a:solidFill>
          <a:ln w="12700">
            <a:solidFill>
              <a:srgbClr val="16213E"/>
            </a:solidFill>
            <a:prstDash val="solid"/>
          </a:ln>
        </p:spPr>
        <p:txBody>
          <a:bodyPr/>
          <a:lstStyle/>
          <a:p>
            <a:endParaRPr lang="it-IT"/>
          </a:p>
        </p:txBody>
      </p:sp>
      <p:sp>
        <p:nvSpPr>
          <p:cNvPr id="4" name="Text 2"/>
          <p:cNvSpPr/>
          <p:nvPr/>
        </p:nvSpPr>
        <p:spPr>
          <a:xfrm>
            <a:off x="3493233" y="297180"/>
            <a:ext cx="2157534" cy="365760"/>
          </a:xfrm>
          <a:prstGeom prst="rect">
            <a:avLst/>
          </a:prstGeom>
          <a:noFill/>
          <a:ln/>
        </p:spPr>
        <p:txBody>
          <a:bodyPr wrap="square" lIns="0" tIns="0" rIns="0" bIns="0" rtlCol="0" anchor="ctr"/>
          <a:lstStyle/>
          <a:p>
            <a:pPr marL="0" indent="0" algn="just">
              <a:buNone/>
            </a:pPr>
            <a:r>
              <a:rPr lang="en-US" b="1" kern="0" spc="200" dirty="0">
                <a:solidFill>
                  <a:srgbClr val="FFFFFF"/>
                </a:solidFill>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p:txBody>
      </p:sp>
      <p:sp>
        <p:nvSpPr>
          <p:cNvPr id="22" name="Rectangle 21">
            <a:extLst>
              <a:ext uri="{FF2B5EF4-FFF2-40B4-BE49-F238E27FC236}">
                <a16:creationId xmlns:a16="http://schemas.microsoft.com/office/drawing/2014/main" id="{E5410370-C618-6323-5E6E-02DF858D619B}"/>
              </a:ext>
            </a:extLst>
          </p:cNvPr>
          <p:cNvSpPr/>
          <p:nvPr/>
        </p:nvSpPr>
        <p:spPr>
          <a:xfrm>
            <a:off x="0" y="5019675"/>
            <a:ext cx="9144000" cy="126475"/>
          </a:xfrm>
          <a:prstGeom prst="rect">
            <a:avLst/>
          </a:prstGeom>
          <a:solidFill>
            <a:srgbClr val="E8A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3" name="TextBox 22">
            <a:extLst>
              <a:ext uri="{FF2B5EF4-FFF2-40B4-BE49-F238E27FC236}">
                <a16:creationId xmlns:a16="http://schemas.microsoft.com/office/drawing/2014/main" id="{497FB52B-0508-5EEC-8BC8-1C4CF551D7BA}"/>
              </a:ext>
            </a:extLst>
          </p:cNvPr>
          <p:cNvSpPr txBox="1"/>
          <p:nvPr/>
        </p:nvSpPr>
        <p:spPr>
          <a:xfrm>
            <a:off x="123825" y="1257300"/>
            <a:ext cx="4523222" cy="3785652"/>
          </a:xfrm>
          <a:prstGeom prst="rect">
            <a:avLst/>
          </a:prstGeom>
          <a:noFill/>
        </p:spPr>
        <p:txBody>
          <a:bodyPr wrap="square" rtlCol="0">
            <a:spAutoFit/>
          </a:bodyPr>
          <a:lstStyle/>
          <a:p>
            <a:pPr algn="just"/>
            <a:r>
              <a:rPr lang="en-US" sz="1500" dirty="0">
                <a:solidFill>
                  <a:schemeClr val="bg1"/>
                </a:solidFill>
                <a:latin typeface="Times New Roman" panose="02020603050405020304" pitchFamily="18" charset="0"/>
                <a:cs typeface="Times New Roman" panose="02020603050405020304" pitchFamily="18" charset="0"/>
              </a:rPr>
              <a:t>Customer satisfaction is important in the hotel industry because it affects customer loyalty, hotel reputation, and business success. Hotels must provide quality services to meet customer expectations and remain competitive.</a:t>
            </a:r>
            <a:endParaRPr lang="it-IT" sz="1500" dirty="0">
              <a:solidFill>
                <a:schemeClr val="bg1"/>
              </a:solidFill>
              <a:latin typeface="Times New Roman" panose="02020603050405020304" pitchFamily="18" charset="0"/>
              <a:cs typeface="Times New Roman" panose="02020603050405020304" pitchFamily="18" charset="0"/>
            </a:endParaRPr>
          </a:p>
          <a:p>
            <a:pPr algn="just"/>
            <a:r>
              <a:rPr lang="en-US" sz="1500" dirty="0">
                <a:solidFill>
                  <a:schemeClr val="bg1"/>
                </a:solidFill>
                <a:latin typeface="Times New Roman" panose="02020603050405020304" pitchFamily="18" charset="0"/>
                <a:cs typeface="Times New Roman" panose="02020603050405020304" pitchFamily="18" charset="0"/>
              </a:rPr>
              <a:t>Abuja, Nigeria's capital city, has many hotels serving business and leisure travelers. Factors such as service quality, food, cleanliness, room comfort, and facilities influence how satisfied guests are with their hotel experience.</a:t>
            </a:r>
            <a:endParaRPr lang="it-IT" sz="1500" dirty="0">
              <a:solidFill>
                <a:schemeClr val="bg1"/>
              </a:solidFill>
              <a:latin typeface="Times New Roman" panose="02020603050405020304" pitchFamily="18" charset="0"/>
              <a:cs typeface="Times New Roman" panose="02020603050405020304" pitchFamily="18" charset="0"/>
            </a:endParaRPr>
          </a:p>
          <a:p>
            <a:pPr algn="just"/>
            <a:r>
              <a:rPr lang="en-US" sz="1500" dirty="0">
                <a:solidFill>
                  <a:schemeClr val="bg1"/>
                </a:solidFill>
                <a:latin typeface="Times New Roman" panose="02020603050405020304" pitchFamily="18" charset="0"/>
                <a:cs typeface="Times New Roman" panose="02020603050405020304" pitchFamily="18" charset="0"/>
              </a:rPr>
              <a:t>This study analyzes customer reviews and ratings from selected hotels in Abuja using Microsoft Excel tools such as pivot tables, charts, and dashboards. The aim is to identify the key factors affecting customer satisfaction, compare hotel performance, and provide insights that can help hotels improve their services and customer experience.</a:t>
            </a:r>
            <a:endParaRPr lang="it-IT" sz="15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E8A020"/>
          </a:solidFill>
          <a:ln w="12700">
            <a:noFill/>
            <a:prstDash val="solid"/>
          </a:ln>
        </p:spPr>
        <p:txBody>
          <a:bodyPr/>
          <a:lstStyle/>
          <a:p>
            <a:endParaRPr lang="it-IT"/>
          </a:p>
        </p:txBody>
      </p:sp>
      <p:sp>
        <p:nvSpPr>
          <p:cNvPr id="25" name="Rectangle 24">
            <a:extLst>
              <a:ext uri="{FF2B5EF4-FFF2-40B4-BE49-F238E27FC236}">
                <a16:creationId xmlns:a16="http://schemas.microsoft.com/office/drawing/2014/main" id="{72BA29F7-219E-0B03-2DC5-2071B485DEA9}"/>
              </a:ext>
            </a:extLst>
          </p:cNvPr>
          <p:cNvSpPr/>
          <p:nvPr/>
        </p:nvSpPr>
        <p:spPr>
          <a:xfrm>
            <a:off x="0" y="5019675"/>
            <a:ext cx="9144000" cy="126475"/>
          </a:xfrm>
          <a:prstGeom prst="rect">
            <a:avLst/>
          </a:prstGeom>
          <a:solidFill>
            <a:srgbClr val="E8A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6" name="Text 2">
            <a:extLst>
              <a:ext uri="{FF2B5EF4-FFF2-40B4-BE49-F238E27FC236}">
                <a16:creationId xmlns:a16="http://schemas.microsoft.com/office/drawing/2014/main" id="{82981EE3-293E-7A72-FFBE-774215EE746E}"/>
              </a:ext>
            </a:extLst>
          </p:cNvPr>
          <p:cNvSpPr/>
          <p:nvPr/>
        </p:nvSpPr>
        <p:spPr>
          <a:xfrm>
            <a:off x="2633040" y="283655"/>
            <a:ext cx="3877917" cy="365760"/>
          </a:xfrm>
          <a:prstGeom prst="rect">
            <a:avLst/>
          </a:prstGeom>
          <a:noFill/>
          <a:ln/>
        </p:spPr>
        <p:txBody>
          <a:bodyPr wrap="square" lIns="0" tIns="0" rIns="0" bIns="0" rtlCol="0" anchor="ctr"/>
          <a:lstStyle/>
          <a:p>
            <a:pPr marL="0" indent="0">
              <a:buNone/>
            </a:pPr>
            <a:r>
              <a:rPr lang="en-US" b="1" kern="0" spc="200" dirty="0">
                <a:solidFill>
                  <a:srgbClr val="1A1A2E"/>
                </a:solidFill>
                <a:latin typeface="Times New Roman" panose="02020603050405020304" pitchFamily="18" charset="0"/>
                <a:cs typeface="Times New Roman" panose="02020603050405020304" pitchFamily="18" charset="0"/>
              </a:rPr>
              <a:t>STATEMENT OF PROBLEMS</a:t>
            </a:r>
            <a:endParaRPr lang="en-US" dirty="0">
              <a:solidFill>
                <a:srgbClr val="1A1A2E"/>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40D3DCE-109D-1BDF-6D34-F787B571D1BD}"/>
              </a:ext>
            </a:extLst>
          </p:cNvPr>
          <p:cNvSpPr txBox="1"/>
          <p:nvPr/>
        </p:nvSpPr>
        <p:spPr>
          <a:xfrm>
            <a:off x="572877" y="1178804"/>
            <a:ext cx="7998245" cy="1938992"/>
          </a:xfrm>
          <a:prstGeom prst="rect">
            <a:avLst/>
          </a:prstGeom>
          <a:noFill/>
        </p:spPr>
        <p:txBody>
          <a:bodyPr wrap="square" rtlCol="0">
            <a:spAutoFit/>
          </a:bodyPr>
          <a:lstStyle/>
          <a:p>
            <a:pPr algn="just"/>
            <a:r>
              <a:rPr lang="en-US" sz="1500" dirty="0">
                <a:latin typeface="Times New Roman" panose="02020603050405020304" pitchFamily="18" charset="0"/>
                <a:cs typeface="Times New Roman" panose="02020603050405020304" pitchFamily="18" charset="0"/>
              </a:rPr>
              <a:t>Many hotels in Abuja struggle to maintain consistent service quality, leading to varying levels of customer satisfaction. Complaints relating to staff responsiveness, cleanliness, booking efficiency, and overall guest experience continue to affect the competitiveness of hotels in the hospitality sector. This problem is worth investigating because customer satisfaction directly influences hotel reputation, repeat patronage, and profitability in an increasingly competitive market. The study fills a knowledge gap by providing evidence on how specific service quality affects customer satisfaction in selected hotels in Abuja.</a:t>
            </a:r>
            <a:endParaRPr lang="it-IT" sz="1500" dirty="0">
              <a:latin typeface="Times New Roman" panose="02020603050405020304" pitchFamily="18" charset="0"/>
              <a:cs typeface="Times New Roman" panose="02020603050405020304" pitchFamily="18" charset="0"/>
            </a:endParaRPr>
          </a:p>
          <a:p>
            <a:pPr algn="just"/>
            <a:endParaRPr lang="it-IT" sz="1500" dirty="0"/>
          </a:p>
        </p:txBody>
      </p:sp>
      <p:sp>
        <p:nvSpPr>
          <p:cNvPr id="10" name="Rectangle 9">
            <a:extLst>
              <a:ext uri="{FF2B5EF4-FFF2-40B4-BE49-F238E27FC236}">
                <a16:creationId xmlns:a16="http://schemas.microsoft.com/office/drawing/2014/main" id="{DC624F29-0B7A-DAEE-A96F-2C8BF3870ABA}"/>
              </a:ext>
            </a:extLst>
          </p:cNvPr>
          <p:cNvSpPr/>
          <p:nvPr/>
        </p:nvSpPr>
        <p:spPr>
          <a:xfrm>
            <a:off x="0" y="5019675"/>
            <a:ext cx="9144000" cy="126475"/>
          </a:xfrm>
          <a:prstGeom prst="rect">
            <a:avLst/>
          </a:prstGeom>
          <a:solidFill>
            <a:srgbClr val="E8A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1" name="Picture 10">
            <a:extLst>
              <a:ext uri="{FF2B5EF4-FFF2-40B4-BE49-F238E27FC236}">
                <a16:creationId xmlns:a16="http://schemas.microsoft.com/office/drawing/2014/main" id="{48CD46FF-4F41-684A-F25C-591E2320410C}"/>
              </a:ext>
            </a:extLst>
          </p:cNvPr>
          <p:cNvPicPr>
            <a:picLocks noChangeAspect="1"/>
          </p:cNvPicPr>
          <p:nvPr/>
        </p:nvPicPr>
        <p:blipFill>
          <a:blip r:embed="rId3">
            <a:alphaModFix amt="90000"/>
          </a:blip>
          <a:stretch>
            <a:fillRect/>
          </a:stretch>
        </p:blipFill>
        <p:spPr>
          <a:xfrm>
            <a:off x="6002220" y="3124199"/>
            <a:ext cx="3141780" cy="1895475"/>
          </a:xfrm>
          <a:prstGeom prst="rect">
            <a:avLst/>
          </a:prstGeom>
        </p:spPr>
      </p:pic>
      <p:pic>
        <p:nvPicPr>
          <p:cNvPr id="14" name="Picture 13">
            <a:extLst>
              <a:ext uri="{FF2B5EF4-FFF2-40B4-BE49-F238E27FC236}">
                <a16:creationId xmlns:a16="http://schemas.microsoft.com/office/drawing/2014/main" id="{8870B2CF-8797-1D6E-2450-3473C1892A85}"/>
              </a:ext>
            </a:extLst>
          </p:cNvPr>
          <p:cNvPicPr>
            <a:picLocks noChangeAspect="1"/>
          </p:cNvPicPr>
          <p:nvPr/>
        </p:nvPicPr>
        <p:blipFill>
          <a:blip r:embed="rId4">
            <a:alphaModFix amt="90000"/>
          </a:blip>
          <a:stretch>
            <a:fillRect/>
          </a:stretch>
        </p:blipFill>
        <p:spPr>
          <a:xfrm>
            <a:off x="2883145" y="3124199"/>
            <a:ext cx="3119075" cy="1901877"/>
          </a:xfrm>
          <a:prstGeom prst="rect">
            <a:avLst/>
          </a:prstGeom>
        </p:spPr>
      </p:pic>
      <p:pic>
        <p:nvPicPr>
          <p:cNvPr id="15" name="Picture 14">
            <a:extLst>
              <a:ext uri="{FF2B5EF4-FFF2-40B4-BE49-F238E27FC236}">
                <a16:creationId xmlns:a16="http://schemas.microsoft.com/office/drawing/2014/main" id="{EE2AA485-873C-40DF-032E-F63176905CCE}"/>
              </a:ext>
            </a:extLst>
          </p:cNvPr>
          <p:cNvPicPr>
            <a:picLocks noChangeAspect="1"/>
          </p:cNvPicPr>
          <p:nvPr/>
        </p:nvPicPr>
        <p:blipFill>
          <a:blip r:embed="rId5">
            <a:alphaModFix amt="90000"/>
          </a:blip>
          <a:stretch>
            <a:fillRect/>
          </a:stretch>
        </p:blipFill>
        <p:spPr>
          <a:xfrm>
            <a:off x="0" y="3124200"/>
            <a:ext cx="2883145" cy="190187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a:extLst>
            <a:ext uri="{FF2B5EF4-FFF2-40B4-BE49-F238E27FC236}">
              <a16:creationId xmlns:a16="http://schemas.microsoft.com/office/drawing/2014/main" id="{E0C3F717-BEAA-4FD7-E0FC-3D8722C0CED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E6AAF40-EF0A-D80E-7A0C-04C904907EEA}"/>
              </a:ext>
            </a:extLst>
          </p:cNvPr>
          <p:cNvSpPr/>
          <p:nvPr/>
        </p:nvSpPr>
        <p:spPr>
          <a:xfrm>
            <a:off x="0" y="0"/>
            <a:ext cx="9144000" cy="960120"/>
          </a:xfrm>
          <a:prstGeom prst="rect">
            <a:avLst/>
          </a:prstGeom>
          <a:solidFill>
            <a:srgbClr val="16213E"/>
          </a:solidFill>
          <a:ln w="12700">
            <a:solidFill>
              <a:srgbClr val="16213E"/>
            </a:solidFill>
            <a:prstDash val="solid"/>
          </a:ln>
        </p:spPr>
        <p:txBody>
          <a:bodyPr/>
          <a:lstStyle/>
          <a:p>
            <a:endParaRPr lang="it-IT"/>
          </a:p>
        </p:txBody>
      </p:sp>
      <p:sp>
        <p:nvSpPr>
          <p:cNvPr id="4" name="Text 2">
            <a:extLst>
              <a:ext uri="{FF2B5EF4-FFF2-40B4-BE49-F238E27FC236}">
                <a16:creationId xmlns:a16="http://schemas.microsoft.com/office/drawing/2014/main" id="{814AA023-F3CA-24ED-F348-8E0965C6BA5F}"/>
              </a:ext>
            </a:extLst>
          </p:cNvPr>
          <p:cNvSpPr/>
          <p:nvPr/>
        </p:nvSpPr>
        <p:spPr>
          <a:xfrm>
            <a:off x="3573303" y="297180"/>
            <a:ext cx="1768793" cy="365760"/>
          </a:xfrm>
          <a:prstGeom prst="rect">
            <a:avLst/>
          </a:prstGeom>
          <a:noFill/>
          <a:ln/>
        </p:spPr>
        <p:txBody>
          <a:bodyPr wrap="square" lIns="0" tIns="0" rIns="0" bIns="0" rtlCol="0" anchor="ctr"/>
          <a:lstStyle/>
          <a:p>
            <a:pPr marL="0" indent="0">
              <a:buNone/>
            </a:pPr>
            <a:r>
              <a:rPr lang="en-US" b="1" kern="0" spc="200" dirty="0">
                <a:solidFill>
                  <a:srgbClr val="FFFFFF"/>
                </a:solidFill>
                <a:latin typeface="Times New Roman" panose="02020603050405020304" pitchFamily="18" charset="0"/>
                <a:cs typeface="Times New Roman" panose="02020603050405020304" pitchFamily="18" charset="0"/>
              </a:rPr>
              <a:t>OBJECTIVES</a:t>
            </a:r>
            <a:endParaRPr lang="en-US" dirty="0">
              <a:latin typeface="Times New Roman" panose="02020603050405020304" pitchFamily="18" charset="0"/>
              <a:cs typeface="Times New Roman" panose="02020603050405020304" pitchFamily="18" charset="0"/>
            </a:endParaRPr>
          </a:p>
        </p:txBody>
      </p:sp>
      <p:sp>
        <p:nvSpPr>
          <p:cNvPr id="22" name="Rectangle 21">
            <a:extLst>
              <a:ext uri="{FF2B5EF4-FFF2-40B4-BE49-F238E27FC236}">
                <a16:creationId xmlns:a16="http://schemas.microsoft.com/office/drawing/2014/main" id="{91E08D67-2A59-2270-FA35-A4D1B78AE9FA}"/>
              </a:ext>
            </a:extLst>
          </p:cNvPr>
          <p:cNvSpPr/>
          <p:nvPr/>
        </p:nvSpPr>
        <p:spPr>
          <a:xfrm>
            <a:off x="0" y="5019675"/>
            <a:ext cx="9144000" cy="126475"/>
          </a:xfrm>
          <a:prstGeom prst="rect">
            <a:avLst/>
          </a:prstGeom>
          <a:solidFill>
            <a:srgbClr val="E8A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TextBox 2">
            <a:extLst>
              <a:ext uri="{FF2B5EF4-FFF2-40B4-BE49-F238E27FC236}">
                <a16:creationId xmlns:a16="http://schemas.microsoft.com/office/drawing/2014/main" id="{1FEDA2E2-6C67-2833-7B31-37178C278F76}"/>
              </a:ext>
            </a:extLst>
          </p:cNvPr>
          <p:cNvSpPr txBox="1"/>
          <p:nvPr/>
        </p:nvSpPr>
        <p:spPr>
          <a:xfrm>
            <a:off x="342900" y="931545"/>
            <a:ext cx="6248400" cy="2336024"/>
          </a:xfrm>
          <a:prstGeom prst="rect">
            <a:avLst/>
          </a:prstGeom>
          <a:noFill/>
        </p:spPr>
        <p:txBody>
          <a:bodyPr wrap="square" rtlCol="0">
            <a:spAutoFit/>
          </a:bodyPr>
          <a:lstStyle/>
          <a:p>
            <a:pPr marL="285750" indent="-285750" algn="just">
              <a:lnSpc>
                <a:spcPct val="200000"/>
              </a:lnSpc>
              <a:buClr>
                <a:srgbClr val="E8A020"/>
              </a:buClr>
              <a:buSzPct val="130000"/>
              <a:buFont typeface="Wingdings" panose="05000000000000000000" pitchFamily="2" charset="2"/>
              <a:buChar char="Ø"/>
            </a:pPr>
            <a:r>
              <a:rPr lang="it-IT" sz="1500" dirty="0">
                <a:solidFill>
                  <a:schemeClr val="bg1"/>
                </a:solidFill>
                <a:latin typeface="Times New Roman" panose="02020603050405020304" pitchFamily="18" charset="0"/>
                <a:cs typeface="Times New Roman" panose="02020603050405020304" pitchFamily="18" charset="0"/>
              </a:rPr>
              <a:t>To examine the level of customer satisfaction in selected hotels in Abuja.</a:t>
            </a:r>
          </a:p>
          <a:p>
            <a:pPr marL="285750" indent="-285750" algn="just">
              <a:lnSpc>
                <a:spcPct val="200000"/>
              </a:lnSpc>
              <a:buClr>
                <a:srgbClr val="E8A020"/>
              </a:buClr>
              <a:buSzPct val="130000"/>
              <a:buFont typeface="Wingdings" panose="05000000000000000000" pitchFamily="2" charset="2"/>
              <a:buChar char="Ø"/>
            </a:pPr>
            <a:r>
              <a:rPr lang="it-IT" sz="1500" dirty="0">
                <a:solidFill>
                  <a:schemeClr val="bg1"/>
                </a:solidFill>
                <a:latin typeface="Times New Roman" panose="02020603050405020304" pitchFamily="18" charset="0"/>
                <a:cs typeface="Times New Roman" panose="02020603050405020304" pitchFamily="18" charset="0"/>
              </a:rPr>
              <a:t>To identify the major factors that influence customer satisfaction in hotels.</a:t>
            </a:r>
          </a:p>
          <a:p>
            <a:pPr marL="285750" indent="-285750" algn="just">
              <a:lnSpc>
                <a:spcPct val="200000"/>
              </a:lnSpc>
              <a:buClr>
                <a:srgbClr val="E8A020"/>
              </a:buClr>
              <a:buSzPct val="130000"/>
              <a:buFont typeface="Wingdings" panose="05000000000000000000" pitchFamily="2" charset="2"/>
              <a:buChar char="Ø"/>
            </a:pPr>
            <a:r>
              <a:rPr lang="it-IT" sz="1500" dirty="0">
                <a:solidFill>
                  <a:schemeClr val="bg1"/>
                </a:solidFill>
                <a:latin typeface="Times New Roman" panose="02020603050405020304" pitchFamily="18" charset="0"/>
                <a:cs typeface="Times New Roman" panose="02020603050405020304" pitchFamily="18" charset="0"/>
              </a:rPr>
              <a:t>To compare the quality of services provided by different hotels.</a:t>
            </a:r>
          </a:p>
          <a:p>
            <a:pPr marL="285750" indent="-285750" algn="just">
              <a:lnSpc>
                <a:spcPct val="200000"/>
              </a:lnSpc>
              <a:buClr>
                <a:srgbClr val="E8A020"/>
              </a:buClr>
              <a:buSzPct val="130000"/>
              <a:buFont typeface="Wingdings" panose="05000000000000000000" pitchFamily="2" charset="2"/>
              <a:buChar char="Ø"/>
            </a:pPr>
            <a:r>
              <a:rPr lang="it-IT" sz="1500" dirty="0">
                <a:solidFill>
                  <a:schemeClr val="bg1"/>
                </a:solidFill>
                <a:latin typeface="Times New Roman" panose="02020603050405020304" pitchFamily="18" charset="0"/>
                <a:cs typeface="Times New Roman" panose="02020603050405020304" pitchFamily="18" charset="0"/>
              </a:rPr>
              <a:t>To evaluate the relationship between service quality and hotel ratings.</a:t>
            </a:r>
          </a:p>
          <a:p>
            <a:pPr marL="285750" indent="-285750">
              <a:lnSpc>
                <a:spcPct val="200000"/>
              </a:lnSpc>
              <a:buClr>
                <a:srgbClr val="E8A020"/>
              </a:buClr>
              <a:buSzPct val="130000"/>
              <a:buFont typeface="Wingdings" panose="05000000000000000000" pitchFamily="2" charset="2"/>
              <a:buChar char="Ø"/>
            </a:pPr>
            <a:endParaRPr lang="it-IT" sz="1500" dirty="0">
              <a:solidFill>
                <a:schemeClr val="bg1"/>
              </a:solidFill>
            </a:endParaRPr>
          </a:p>
        </p:txBody>
      </p:sp>
      <p:pic>
        <p:nvPicPr>
          <p:cNvPr id="6" name="Picture 5">
            <a:extLst>
              <a:ext uri="{FF2B5EF4-FFF2-40B4-BE49-F238E27FC236}">
                <a16:creationId xmlns:a16="http://schemas.microsoft.com/office/drawing/2014/main" id="{27ABDB11-5C27-528E-1082-66CBF5C45A5C}"/>
              </a:ext>
            </a:extLst>
          </p:cNvPr>
          <p:cNvPicPr>
            <a:picLocks noChangeAspect="1"/>
          </p:cNvPicPr>
          <p:nvPr/>
        </p:nvPicPr>
        <p:blipFill>
          <a:blip r:embed="rId3">
            <a:alphaModFix amt="40000"/>
          </a:blip>
          <a:stretch>
            <a:fillRect/>
          </a:stretch>
        </p:blipFill>
        <p:spPr>
          <a:xfrm>
            <a:off x="6002220" y="3124200"/>
            <a:ext cx="3101597" cy="1845450"/>
          </a:xfrm>
          <a:prstGeom prst="rect">
            <a:avLst/>
          </a:prstGeom>
        </p:spPr>
      </p:pic>
      <p:pic>
        <p:nvPicPr>
          <p:cNvPr id="8" name="Picture 7">
            <a:extLst>
              <a:ext uri="{FF2B5EF4-FFF2-40B4-BE49-F238E27FC236}">
                <a16:creationId xmlns:a16="http://schemas.microsoft.com/office/drawing/2014/main" id="{3A2A273C-80CB-3A2A-E663-7102F3B502FA}"/>
              </a:ext>
            </a:extLst>
          </p:cNvPr>
          <p:cNvPicPr>
            <a:picLocks noChangeAspect="1"/>
          </p:cNvPicPr>
          <p:nvPr/>
        </p:nvPicPr>
        <p:blipFill>
          <a:blip r:embed="rId4">
            <a:alphaModFix amt="40000"/>
          </a:blip>
          <a:stretch>
            <a:fillRect/>
          </a:stretch>
        </p:blipFill>
        <p:spPr>
          <a:xfrm>
            <a:off x="2883145" y="3111818"/>
            <a:ext cx="3119075" cy="1857832"/>
          </a:xfrm>
          <a:prstGeom prst="rect">
            <a:avLst/>
          </a:prstGeom>
        </p:spPr>
      </p:pic>
      <p:pic>
        <p:nvPicPr>
          <p:cNvPr id="10" name="Picture 9">
            <a:extLst>
              <a:ext uri="{FF2B5EF4-FFF2-40B4-BE49-F238E27FC236}">
                <a16:creationId xmlns:a16="http://schemas.microsoft.com/office/drawing/2014/main" id="{ED700C2F-D297-46E5-934F-5172EF6551E2}"/>
              </a:ext>
            </a:extLst>
          </p:cNvPr>
          <p:cNvPicPr>
            <a:picLocks noChangeAspect="1"/>
          </p:cNvPicPr>
          <p:nvPr/>
        </p:nvPicPr>
        <p:blipFill>
          <a:blip r:embed="rId5">
            <a:alphaModFix amt="40000"/>
          </a:blip>
          <a:stretch>
            <a:fillRect/>
          </a:stretch>
        </p:blipFill>
        <p:spPr>
          <a:xfrm>
            <a:off x="47625" y="3111215"/>
            <a:ext cx="2835520" cy="1858435"/>
          </a:xfrm>
          <a:prstGeom prst="rect">
            <a:avLst/>
          </a:prstGeom>
        </p:spPr>
      </p:pic>
    </p:spTree>
    <p:extLst>
      <p:ext uri="{BB962C8B-B14F-4D97-AF65-F5344CB8AC3E}">
        <p14:creationId xmlns:p14="http://schemas.microsoft.com/office/powerpoint/2010/main" val="1726650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a:extLst>
            <a:ext uri="{FF2B5EF4-FFF2-40B4-BE49-F238E27FC236}">
              <a16:creationId xmlns:a16="http://schemas.microsoft.com/office/drawing/2014/main" id="{695D726A-3E2D-60FB-AF44-6792D6B70D2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4B581C1-7D3C-D909-671F-E5EFAA84ADF8}"/>
              </a:ext>
            </a:extLst>
          </p:cNvPr>
          <p:cNvSpPr/>
          <p:nvPr/>
        </p:nvSpPr>
        <p:spPr>
          <a:xfrm>
            <a:off x="0" y="0"/>
            <a:ext cx="9144000" cy="960120"/>
          </a:xfrm>
          <a:prstGeom prst="rect">
            <a:avLst/>
          </a:prstGeom>
          <a:solidFill>
            <a:srgbClr val="E8A020"/>
          </a:solidFill>
          <a:ln w="12700">
            <a:noFill/>
            <a:prstDash val="solid"/>
          </a:ln>
        </p:spPr>
        <p:txBody>
          <a:bodyPr/>
          <a:lstStyle/>
          <a:p>
            <a:endParaRPr lang="it-IT"/>
          </a:p>
        </p:txBody>
      </p:sp>
      <p:sp>
        <p:nvSpPr>
          <p:cNvPr id="5" name="Shape 3">
            <a:extLst>
              <a:ext uri="{FF2B5EF4-FFF2-40B4-BE49-F238E27FC236}">
                <a16:creationId xmlns:a16="http://schemas.microsoft.com/office/drawing/2014/main" id="{777C1F66-14C9-A278-8D71-ED0CD7E472B9}"/>
              </a:ext>
            </a:extLst>
          </p:cNvPr>
          <p:cNvSpPr/>
          <p:nvPr/>
        </p:nvSpPr>
        <p:spPr>
          <a:xfrm>
            <a:off x="365760" y="1143000"/>
            <a:ext cx="7737069" cy="640080"/>
          </a:xfrm>
          <a:prstGeom prst="rect">
            <a:avLst/>
          </a:prstGeom>
          <a:solidFill>
            <a:srgbClr val="FFFFFF"/>
          </a:solidFill>
          <a:ln w="12700">
            <a:solidFill>
              <a:srgbClr val="E0E0E0"/>
            </a:solidFill>
            <a:prstDash val="solid"/>
          </a:ln>
          <a:effectLst>
            <a:outerShdw blurRad="127000" dist="38100" dir="8100000" algn="bl" rotWithShape="0">
              <a:srgbClr val="000000">
                <a:alpha val="12000"/>
              </a:srgbClr>
            </a:outerShdw>
          </a:effectLst>
        </p:spPr>
        <p:txBody>
          <a:bodyPr/>
          <a:lstStyle/>
          <a:p>
            <a:endParaRPr lang="it-IT"/>
          </a:p>
        </p:txBody>
      </p:sp>
      <p:sp>
        <p:nvSpPr>
          <p:cNvPr id="8" name="Text 6">
            <a:extLst>
              <a:ext uri="{FF2B5EF4-FFF2-40B4-BE49-F238E27FC236}">
                <a16:creationId xmlns:a16="http://schemas.microsoft.com/office/drawing/2014/main" id="{96A95290-63F3-2C48-04B6-C7234463F3B5}"/>
              </a:ext>
            </a:extLst>
          </p:cNvPr>
          <p:cNvSpPr/>
          <p:nvPr/>
        </p:nvSpPr>
        <p:spPr>
          <a:xfrm>
            <a:off x="604749" y="1234440"/>
            <a:ext cx="7498080" cy="457200"/>
          </a:xfrm>
          <a:prstGeom prst="rect">
            <a:avLst/>
          </a:prstGeom>
          <a:noFill/>
          <a:ln/>
        </p:spPr>
        <p:txBody>
          <a:bodyPr wrap="square" lIns="0" tIns="0" rIns="0" bIns="0" rtlCol="0" anchor="ctr"/>
          <a:lstStyle/>
          <a:p>
            <a:pPr marL="285750" lvl="0" indent="-285750">
              <a:buClr>
                <a:srgbClr val="E8A020"/>
              </a:buClr>
              <a:buSzPct val="125000"/>
              <a:buFont typeface="Wingdings" panose="05000000000000000000" pitchFamily="2" charset="2"/>
              <a:buChar char="v"/>
            </a:pPr>
            <a:r>
              <a:rPr lang="en-US" sz="1500" dirty="0">
                <a:latin typeface="Times New Roman" panose="02020603050405020304" pitchFamily="18" charset="0"/>
                <a:cs typeface="Times New Roman" panose="02020603050405020304" pitchFamily="18" charset="0"/>
              </a:rPr>
              <a:t>What is the general level of customer satisfaction in the selected hotels in Abuja?</a:t>
            </a:r>
            <a:endParaRPr lang="it-IT" sz="1500" dirty="0">
              <a:latin typeface="Times New Roman" panose="02020603050405020304" pitchFamily="18" charset="0"/>
              <a:cs typeface="Times New Roman" panose="02020603050405020304" pitchFamily="18" charset="0"/>
            </a:endParaRPr>
          </a:p>
        </p:txBody>
      </p:sp>
      <p:sp>
        <p:nvSpPr>
          <p:cNvPr id="9" name="Shape 7">
            <a:extLst>
              <a:ext uri="{FF2B5EF4-FFF2-40B4-BE49-F238E27FC236}">
                <a16:creationId xmlns:a16="http://schemas.microsoft.com/office/drawing/2014/main" id="{8F20FF43-2F37-01BE-D56C-7A37C0618B50}"/>
              </a:ext>
            </a:extLst>
          </p:cNvPr>
          <p:cNvSpPr/>
          <p:nvPr/>
        </p:nvSpPr>
        <p:spPr>
          <a:xfrm>
            <a:off x="365760" y="1892808"/>
            <a:ext cx="7737069" cy="640080"/>
          </a:xfrm>
          <a:prstGeom prst="rect">
            <a:avLst/>
          </a:prstGeom>
          <a:solidFill>
            <a:srgbClr val="FFFFFF"/>
          </a:solidFill>
          <a:ln w="12700">
            <a:solidFill>
              <a:srgbClr val="E0E0E0"/>
            </a:solidFill>
            <a:prstDash val="solid"/>
          </a:ln>
          <a:effectLst>
            <a:outerShdw blurRad="127000" dist="38100" dir="8100000" algn="bl" rotWithShape="0">
              <a:srgbClr val="000000">
                <a:alpha val="12000"/>
              </a:srgbClr>
            </a:outerShdw>
          </a:effectLst>
        </p:spPr>
        <p:txBody>
          <a:bodyPr/>
          <a:lstStyle/>
          <a:p>
            <a:endParaRPr lang="it-IT"/>
          </a:p>
        </p:txBody>
      </p:sp>
      <p:sp>
        <p:nvSpPr>
          <p:cNvPr id="12" name="Text 10">
            <a:extLst>
              <a:ext uri="{FF2B5EF4-FFF2-40B4-BE49-F238E27FC236}">
                <a16:creationId xmlns:a16="http://schemas.microsoft.com/office/drawing/2014/main" id="{40ADDA16-BA67-19AE-F1F8-638DA55E8133}"/>
              </a:ext>
            </a:extLst>
          </p:cNvPr>
          <p:cNvSpPr/>
          <p:nvPr/>
        </p:nvSpPr>
        <p:spPr>
          <a:xfrm>
            <a:off x="604749" y="1984248"/>
            <a:ext cx="7498080" cy="457200"/>
          </a:xfrm>
          <a:prstGeom prst="rect">
            <a:avLst/>
          </a:prstGeom>
          <a:noFill/>
          <a:ln/>
        </p:spPr>
        <p:txBody>
          <a:bodyPr wrap="square" lIns="0" tIns="0" rIns="0" bIns="0" rtlCol="0" anchor="ctr"/>
          <a:lstStyle/>
          <a:p>
            <a:pPr marL="285750" lvl="0" indent="-285750">
              <a:buClr>
                <a:srgbClr val="E8A020"/>
              </a:buClr>
              <a:buSzPct val="125000"/>
              <a:buFont typeface="Wingdings" panose="05000000000000000000" pitchFamily="2" charset="2"/>
              <a:buChar char="v"/>
            </a:pPr>
            <a:r>
              <a:rPr lang="en-US" sz="1500" dirty="0">
                <a:latin typeface="Times New Roman" panose="02020603050405020304" pitchFamily="18" charset="0"/>
                <a:cs typeface="Times New Roman" panose="02020603050405020304" pitchFamily="18" charset="0"/>
              </a:rPr>
              <a:t>Which service quality factors have the strongest effect on customer satisfaction?</a:t>
            </a:r>
            <a:endParaRPr lang="it-IT" sz="1500" dirty="0">
              <a:latin typeface="Times New Roman" panose="02020603050405020304" pitchFamily="18" charset="0"/>
              <a:cs typeface="Times New Roman" panose="02020603050405020304" pitchFamily="18" charset="0"/>
            </a:endParaRPr>
          </a:p>
        </p:txBody>
      </p:sp>
      <p:sp>
        <p:nvSpPr>
          <p:cNvPr id="13" name="Shape 11">
            <a:extLst>
              <a:ext uri="{FF2B5EF4-FFF2-40B4-BE49-F238E27FC236}">
                <a16:creationId xmlns:a16="http://schemas.microsoft.com/office/drawing/2014/main" id="{7E7A69C2-87D1-0A4C-0336-DB213E559084}"/>
              </a:ext>
            </a:extLst>
          </p:cNvPr>
          <p:cNvSpPr/>
          <p:nvPr/>
        </p:nvSpPr>
        <p:spPr>
          <a:xfrm>
            <a:off x="365760" y="2642616"/>
            <a:ext cx="7737069" cy="640080"/>
          </a:xfrm>
          <a:prstGeom prst="rect">
            <a:avLst/>
          </a:prstGeom>
          <a:solidFill>
            <a:srgbClr val="FFFFFF"/>
          </a:solidFill>
          <a:ln w="12700">
            <a:solidFill>
              <a:srgbClr val="E0E0E0"/>
            </a:solidFill>
            <a:prstDash val="solid"/>
          </a:ln>
          <a:effectLst>
            <a:outerShdw blurRad="127000" dist="38100" dir="8100000" algn="bl" rotWithShape="0">
              <a:srgbClr val="000000">
                <a:alpha val="12000"/>
              </a:srgbClr>
            </a:outerShdw>
          </a:effectLst>
        </p:spPr>
        <p:txBody>
          <a:bodyPr/>
          <a:lstStyle/>
          <a:p>
            <a:endParaRPr lang="it-IT"/>
          </a:p>
        </p:txBody>
      </p:sp>
      <p:sp>
        <p:nvSpPr>
          <p:cNvPr id="16" name="Text 14">
            <a:extLst>
              <a:ext uri="{FF2B5EF4-FFF2-40B4-BE49-F238E27FC236}">
                <a16:creationId xmlns:a16="http://schemas.microsoft.com/office/drawing/2014/main" id="{2D656AB5-E1C0-7A7B-ADF7-617D83DC8483}"/>
              </a:ext>
            </a:extLst>
          </p:cNvPr>
          <p:cNvSpPr/>
          <p:nvPr/>
        </p:nvSpPr>
        <p:spPr>
          <a:xfrm>
            <a:off x="604749" y="2734056"/>
            <a:ext cx="7498080" cy="457200"/>
          </a:xfrm>
          <a:prstGeom prst="rect">
            <a:avLst/>
          </a:prstGeom>
          <a:noFill/>
          <a:ln/>
        </p:spPr>
        <p:txBody>
          <a:bodyPr wrap="square" lIns="0" tIns="0" rIns="0" bIns="0" rtlCol="0" anchor="ctr"/>
          <a:lstStyle/>
          <a:p>
            <a:pPr marL="285750" lvl="0" indent="-285750">
              <a:buClr>
                <a:srgbClr val="E8A020"/>
              </a:buClr>
              <a:buSzPct val="125000"/>
              <a:buFont typeface="Wingdings" panose="05000000000000000000" pitchFamily="2" charset="2"/>
              <a:buChar char="v"/>
            </a:pPr>
            <a:r>
              <a:rPr lang="en-US" sz="1500" dirty="0">
                <a:latin typeface="Times New Roman" panose="02020603050405020304" pitchFamily="18" charset="0"/>
                <a:cs typeface="Times New Roman" panose="02020603050405020304" pitchFamily="18" charset="0"/>
              </a:rPr>
              <a:t>How do the selected hotels perform when compared in terms of service quality?</a:t>
            </a:r>
            <a:endParaRPr lang="it-IT" sz="1500" dirty="0">
              <a:latin typeface="Times New Roman" panose="02020603050405020304" pitchFamily="18" charset="0"/>
              <a:cs typeface="Times New Roman" panose="02020603050405020304" pitchFamily="18" charset="0"/>
            </a:endParaRPr>
          </a:p>
        </p:txBody>
      </p:sp>
      <p:sp>
        <p:nvSpPr>
          <p:cNvPr id="17" name="Shape 15">
            <a:extLst>
              <a:ext uri="{FF2B5EF4-FFF2-40B4-BE49-F238E27FC236}">
                <a16:creationId xmlns:a16="http://schemas.microsoft.com/office/drawing/2014/main" id="{0A4EF61A-92BD-848E-B445-23D30D3C485A}"/>
              </a:ext>
            </a:extLst>
          </p:cNvPr>
          <p:cNvSpPr/>
          <p:nvPr/>
        </p:nvSpPr>
        <p:spPr>
          <a:xfrm>
            <a:off x="365760" y="3392424"/>
            <a:ext cx="7737069" cy="640080"/>
          </a:xfrm>
          <a:prstGeom prst="rect">
            <a:avLst/>
          </a:prstGeom>
          <a:solidFill>
            <a:srgbClr val="FFFFFF"/>
          </a:solidFill>
          <a:ln w="12700">
            <a:solidFill>
              <a:srgbClr val="E0E0E0"/>
            </a:solidFill>
            <a:prstDash val="solid"/>
          </a:ln>
          <a:effectLst>
            <a:outerShdw blurRad="127000" dist="38100" dir="8100000" algn="bl" rotWithShape="0">
              <a:srgbClr val="000000">
                <a:alpha val="12000"/>
              </a:srgbClr>
            </a:outerShdw>
          </a:effectLst>
        </p:spPr>
        <p:txBody>
          <a:bodyPr/>
          <a:lstStyle/>
          <a:p>
            <a:endParaRPr lang="it-IT"/>
          </a:p>
        </p:txBody>
      </p:sp>
      <p:sp>
        <p:nvSpPr>
          <p:cNvPr id="20" name="Text 18">
            <a:extLst>
              <a:ext uri="{FF2B5EF4-FFF2-40B4-BE49-F238E27FC236}">
                <a16:creationId xmlns:a16="http://schemas.microsoft.com/office/drawing/2014/main" id="{EB7E6E6B-9604-2139-2324-28FE17AA207B}"/>
              </a:ext>
            </a:extLst>
          </p:cNvPr>
          <p:cNvSpPr/>
          <p:nvPr/>
        </p:nvSpPr>
        <p:spPr>
          <a:xfrm>
            <a:off x="604749" y="3483864"/>
            <a:ext cx="7498080" cy="457200"/>
          </a:xfrm>
          <a:prstGeom prst="rect">
            <a:avLst/>
          </a:prstGeom>
          <a:noFill/>
          <a:ln/>
        </p:spPr>
        <p:txBody>
          <a:bodyPr wrap="square" lIns="0" tIns="0" rIns="0" bIns="0" rtlCol="0" anchor="ctr"/>
          <a:lstStyle/>
          <a:p>
            <a:pPr marL="285750" lvl="0" indent="-285750">
              <a:buClr>
                <a:srgbClr val="E8A020"/>
              </a:buClr>
              <a:buSzPct val="125000"/>
              <a:buFont typeface="Wingdings" panose="05000000000000000000" pitchFamily="2" charset="2"/>
              <a:buChar char="v"/>
            </a:pPr>
            <a:r>
              <a:rPr lang="en-US" sz="1500" dirty="0">
                <a:latin typeface="Times New Roman" panose="02020603050405020304" pitchFamily="18" charset="0"/>
                <a:cs typeface="Times New Roman" panose="02020603050405020304" pitchFamily="18" charset="0"/>
              </a:rPr>
              <a:t>How does service quality affect hotel ratings?</a:t>
            </a:r>
            <a:endParaRPr lang="it-IT" sz="1500" dirty="0">
              <a:latin typeface="Times New Roman" panose="02020603050405020304" pitchFamily="18" charset="0"/>
              <a:cs typeface="Times New Roman" panose="02020603050405020304" pitchFamily="18" charset="0"/>
            </a:endParaRPr>
          </a:p>
        </p:txBody>
      </p:sp>
      <p:sp>
        <p:nvSpPr>
          <p:cNvPr id="25" name="Rectangle 24">
            <a:extLst>
              <a:ext uri="{FF2B5EF4-FFF2-40B4-BE49-F238E27FC236}">
                <a16:creationId xmlns:a16="http://schemas.microsoft.com/office/drawing/2014/main" id="{39BA1110-83B6-7A9F-60E8-73F24A6CD1F5}"/>
              </a:ext>
            </a:extLst>
          </p:cNvPr>
          <p:cNvSpPr/>
          <p:nvPr/>
        </p:nvSpPr>
        <p:spPr>
          <a:xfrm>
            <a:off x="0" y="5019675"/>
            <a:ext cx="9144000" cy="126475"/>
          </a:xfrm>
          <a:prstGeom prst="rect">
            <a:avLst/>
          </a:prstGeom>
          <a:solidFill>
            <a:srgbClr val="E8A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6" name="Text 2">
            <a:extLst>
              <a:ext uri="{FF2B5EF4-FFF2-40B4-BE49-F238E27FC236}">
                <a16:creationId xmlns:a16="http://schemas.microsoft.com/office/drawing/2014/main" id="{4EFCA23C-11F4-EAA0-692F-C763D1934371}"/>
              </a:ext>
            </a:extLst>
          </p:cNvPr>
          <p:cNvSpPr/>
          <p:nvPr/>
        </p:nvSpPr>
        <p:spPr>
          <a:xfrm>
            <a:off x="2996608" y="283655"/>
            <a:ext cx="3150784" cy="365760"/>
          </a:xfrm>
          <a:prstGeom prst="rect">
            <a:avLst/>
          </a:prstGeom>
          <a:noFill/>
          <a:ln/>
        </p:spPr>
        <p:txBody>
          <a:bodyPr wrap="square" lIns="0" tIns="0" rIns="0" bIns="0" rtlCol="0" anchor="ctr"/>
          <a:lstStyle/>
          <a:p>
            <a:pPr marL="0" indent="0">
              <a:buNone/>
            </a:pPr>
            <a:r>
              <a:rPr lang="en-US" b="1" kern="0" spc="200" dirty="0">
                <a:solidFill>
                  <a:srgbClr val="1A1A2E"/>
                </a:solidFill>
                <a:latin typeface="Times New Roman" panose="02020603050405020304" pitchFamily="18" charset="0"/>
                <a:cs typeface="Times New Roman" panose="02020603050405020304" pitchFamily="18" charset="0"/>
              </a:rPr>
              <a:t>RESEARCH QUESTIONS</a:t>
            </a:r>
            <a:endParaRPr lang="en-US" dirty="0">
              <a:solidFill>
                <a:srgbClr val="1A1A2E"/>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4537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a:extLst>
            <a:ext uri="{FF2B5EF4-FFF2-40B4-BE49-F238E27FC236}">
              <a16:creationId xmlns:a16="http://schemas.microsoft.com/office/drawing/2014/main" id="{F4F91523-0C37-CC02-F8CE-F590E1F54C3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37BD868-3D2E-7B6A-680A-1C295D3DD83E}"/>
              </a:ext>
            </a:extLst>
          </p:cNvPr>
          <p:cNvSpPr/>
          <p:nvPr/>
        </p:nvSpPr>
        <p:spPr>
          <a:xfrm>
            <a:off x="0" y="0"/>
            <a:ext cx="9144000" cy="960120"/>
          </a:xfrm>
          <a:prstGeom prst="rect">
            <a:avLst/>
          </a:prstGeom>
          <a:solidFill>
            <a:srgbClr val="E8A020"/>
          </a:solidFill>
          <a:ln w="12700">
            <a:noFill/>
            <a:prstDash val="solid"/>
          </a:ln>
        </p:spPr>
        <p:txBody>
          <a:bodyPr/>
          <a:lstStyle/>
          <a:p>
            <a:endParaRPr lang="it-IT"/>
          </a:p>
        </p:txBody>
      </p:sp>
      <p:sp>
        <p:nvSpPr>
          <p:cNvPr id="4" name="Text 2">
            <a:extLst>
              <a:ext uri="{FF2B5EF4-FFF2-40B4-BE49-F238E27FC236}">
                <a16:creationId xmlns:a16="http://schemas.microsoft.com/office/drawing/2014/main" id="{1ECBA028-075F-FD0E-3B1A-EE7F2067588C}"/>
              </a:ext>
            </a:extLst>
          </p:cNvPr>
          <p:cNvSpPr/>
          <p:nvPr/>
        </p:nvSpPr>
        <p:spPr>
          <a:xfrm>
            <a:off x="3244245" y="297180"/>
            <a:ext cx="2396874" cy="365760"/>
          </a:xfrm>
          <a:prstGeom prst="rect">
            <a:avLst/>
          </a:prstGeom>
          <a:noFill/>
          <a:ln/>
        </p:spPr>
        <p:txBody>
          <a:bodyPr wrap="square" lIns="0" tIns="0" rIns="0" bIns="0" rtlCol="0" anchor="ctr"/>
          <a:lstStyle/>
          <a:p>
            <a:pPr marL="0" indent="0">
              <a:buNone/>
            </a:pPr>
            <a:r>
              <a:rPr lang="en-US" b="1" kern="0" spc="200" dirty="0">
                <a:solidFill>
                  <a:srgbClr val="1A1A2E"/>
                </a:solidFill>
                <a:latin typeface="Times New Roman" panose="02020603050405020304" pitchFamily="18" charset="0"/>
                <a:cs typeface="Times New Roman" panose="02020603050405020304" pitchFamily="18" charset="0"/>
              </a:rPr>
              <a:t>SCOPE OF STUDY</a:t>
            </a:r>
            <a:endParaRPr lang="en-US" dirty="0">
              <a:solidFill>
                <a:srgbClr val="1A1A2E"/>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176FA0B-0979-2A72-76A7-1D84415894C3}"/>
              </a:ext>
            </a:extLst>
          </p:cNvPr>
          <p:cNvPicPr>
            <a:picLocks noChangeAspect="1"/>
          </p:cNvPicPr>
          <p:nvPr/>
        </p:nvPicPr>
        <p:blipFill>
          <a:blip r:embed="rId3">
            <a:alphaModFix amt="20000"/>
          </a:blip>
          <a:stretch>
            <a:fillRect/>
          </a:stretch>
        </p:blipFill>
        <p:spPr>
          <a:xfrm>
            <a:off x="6002220" y="3124200"/>
            <a:ext cx="3101597" cy="1845450"/>
          </a:xfrm>
          <a:prstGeom prst="rect">
            <a:avLst/>
          </a:prstGeom>
        </p:spPr>
      </p:pic>
      <p:pic>
        <p:nvPicPr>
          <p:cNvPr id="8" name="Picture 7">
            <a:extLst>
              <a:ext uri="{FF2B5EF4-FFF2-40B4-BE49-F238E27FC236}">
                <a16:creationId xmlns:a16="http://schemas.microsoft.com/office/drawing/2014/main" id="{D8154BF6-97AF-C04B-71A6-71A5D466B3A5}"/>
              </a:ext>
            </a:extLst>
          </p:cNvPr>
          <p:cNvPicPr>
            <a:picLocks noChangeAspect="1"/>
          </p:cNvPicPr>
          <p:nvPr/>
        </p:nvPicPr>
        <p:blipFill>
          <a:blip r:embed="rId4">
            <a:alphaModFix amt="20000"/>
          </a:blip>
          <a:stretch>
            <a:fillRect/>
          </a:stretch>
        </p:blipFill>
        <p:spPr>
          <a:xfrm>
            <a:off x="2883145" y="3111818"/>
            <a:ext cx="3119075" cy="1857832"/>
          </a:xfrm>
          <a:prstGeom prst="rect">
            <a:avLst/>
          </a:prstGeom>
        </p:spPr>
      </p:pic>
      <p:pic>
        <p:nvPicPr>
          <p:cNvPr id="10" name="Picture 9">
            <a:extLst>
              <a:ext uri="{FF2B5EF4-FFF2-40B4-BE49-F238E27FC236}">
                <a16:creationId xmlns:a16="http://schemas.microsoft.com/office/drawing/2014/main" id="{70073D41-47E2-7AED-7B86-2A45D85ACEA5}"/>
              </a:ext>
            </a:extLst>
          </p:cNvPr>
          <p:cNvPicPr>
            <a:picLocks noChangeAspect="1"/>
          </p:cNvPicPr>
          <p:nvPr/>
        </p:nvPicPr>
        <p:blipFill>
          <a:blip r:embed="rId5">
            <a:alphaModFix amt="20000"/>
          </a:blip>
          <a:stretch>
            <a:fillRect/>
          </a:stretch>
        </p:blipFill>
        <p:spPr>
          <a:xfrm>
            <a:off x="47625" y="3111215"/>
            <a:ext cx="2835520" cy="1858435"/>
          </a:xfrm>
          <a:prstGeom prst="rect">
            <a:avLst/>
          </a:prstGeom>
        </p:spPr>
      </p:pic>
      <p:sp>
        <p:nvSpPr>
          <p:cNvPr id="5" name="TextBox 4">
            <a:extLst>
              <a:ext uri="{FF2B5EF4-FFF2-40B4-BE49-F238E27FC236}">
                <a16:creationId xmlns:a16="http://schemas.microsoft.com/office/drawing/2014/main" id="{D82BF840-2645-6C20-3F0D-4C72E3F30112}"/>
              </a:ext>
            </a:extLst>
          </p:cNvPr>
          <p:cNvSpPr txBox="1"/>
          <p:nvPr/>
        </p:nvSpPr>
        <p:spPr>
          <a:xfrm>
            <a:off x="342900" y="931545"/>
            <a:ext cx="7457042" cy="2428357"/>
          </a:xfrm>
          <a:prstGeom prst="rect">
            <a:avLst/>
          </a:prstGeom>
          <a:noFill/>
        </p:spPr>
        <p:txBody>
          <a:bodyPr wrap="square" rtlCol="0">
            <a:spAutoFit/>
          </a:bodyPr>
          <a:lstStyle/>
          <a:p>
            <a:pPr marL="285750" indent="-285750" algn="just">
              <a:lnSpc>
                <a:spcPct val="200000"/>
              </a:lnSpc>
              <a:buClr>
                <a:srgbClr val="E8A020"/>
              </a:buClr>
              <a:buSzPct val="130000"/>
              <a:buFont typeface="Wingdings" panose="05000000000000000000" pitchFamily="2" charset="2"/>
              <a:buChar char="v"/>
            </a:pPr>
            <a:r>
              <a:rPr lang="en-US" sz="1500" dirty="0">
                <a:solidFill>
                  <a:schemeClr val="bg1"/>
                </a:solidFill>
                <a:latin typeface="Times New Roman" panose="02020603050405020304" pitchFamily="18" charset="0"/>
                <a:cs typeface="Times New Roman" panose="02020603050405020304" pitchFamily="18" charset="0"/>
              </a:rPr>
              <a:t>The study focused on customer reviews and ratings from selected hotels in Abuja, Nigeria.</a:t>
            </a:r>
            <a:endParaRPr lang="it-IT" sz="1500" dirty="0">
              <a:solidFill>
                <a:schemeClr val="bg1"/>
              </a:solidFill>
              <a:latin typeface="Times New Roman" panose="02020603050405020304" pitchFamily="18" charset="0"/>
              <a:cs typeface="Times New Roman" panose="02020603050405020304" pitchFamily="18" charset="0"/>
            </a:endParaRPr>
          </a:p>
          <a:p>
            <a:pPr marL="285750" indent="-285750" algn="just">
              <a:lnSpc>
                <a:spcPct val="200000"/>
              </a:lnSpc>
              <a:buClr>
                <a:srgbClr val="E8A020"/>
              </a:buClr>
              <a:buSzPct val="130000"/>
              <a:buFont typeface="Wingdings" panose="05000000000000000000" pitchFamily="2" charset="2"/>
              <a:buChar char="v"/>
            </a:pPr>
            <a:r>
              <a:rPr lang="en-US" sz="1500" dirty="0">
                <a:solidFill>
                  <a:schemeClr val="bg1"/>
                </a:solidFill>
                <a:latin typeface="Times New Roman" panose="02020603050405020304" pitchFamily="18" charset="0"/>
                <a:cs typeface="Times New Roman" panose="02020603050405020304" pitchFamily="18" charset="0"/>
              </a:rPr>
              <a:t>Analysis was limited to customer satisfaction and service quality factors.</a:t>
            </a:r>
          </a:p>
          <a:p>
            <a:pPr marL="285750" indent="-285750" algn="just">
              <a:lnSpc>
                <a:spcPct val="200000"/>
              </a:lnSpc>
              <a:buClr>
                <a:srgbClr val="E8A020"/>
              </a:buClr>
              <a:buSzPct val="130000"/>
              <a:buFont typeface="Wingdings" panose="05000000000000000000" pitchFamily="2" charset="2"/>
              <a:buChar char="v"/>
            </a:pPr>
            <a:r>
              <a:rPr lang="en-US" sz="1500" dirty="0">
                <a:solidFill>
                  <a:schemeClr val="bg1"/>
                </a:solidFill>
                <a:latin typeface="Times New Roman" panose="02020603050405020304" pitchFamily="18" charset="0"/>
                <a:cs typeface="Times New Roman" panose="02020603050405020304" pitchFamily="18" charset="0"/>
              </a:rPr>
              <a:t>The study covered eight selected hotels and over 2,000 customer reviews.</a:t>
            </a:r>
          </a:p>
          <a:p>
            <a:pPr marL="285750" indent="-285750" algn="just">
              <a:lnSpc>
                <a:spcPct val="200000"/>
              </a:lnSpc>
              <a:buClr>
                <a:srgbClr val="E8A020"/>
              </a:buClr>
              <a:buSzPct val="130000"/>
              <a:buFont typeface="Wingdings" panose="05000000000000000000" pitchFamily="2" charset="2"/>
              <a:buChar char="v"/>
            </a:pPr>
            <a:r>
              <a:rPr lang="en-US" sz="1500" dirty="0">
                <a:solidFill>
                  <a:schemeClr val="bg1"/>
                </a:solidFill>
                <a:latin typeface="Times New Roman" panose="02020603050405020304" pitchFamily="18" charset="0"/>
                <a:cs typeface="Times New Roman" panose="02020603050405020304" pitchFamily="18" charset="0"/>
              </a:rPr>
              <a:t>Findings may not represent all hotels in Nigeria or other countries.</a:t>
            </a:r>
            <a:endParaRPr lang="it-IT" sz="1500" dirty="0">
              <a:solidFill>
                <a:schemeClr val="bg1"/>
              </a:solidFill>
              <a:latin typeface="Times New Roman" panose="02020603050405020304" pitchFamily="18" charset="0"/>
              <a:cs typeface="Times New Roman" panose="02020603050405020304" pitchFamily="18" charset="0"/>
            </a:endParaRPr>
          </a:p>
          <a:p>
            <a:pPr marL="285750" indent="-285750">
              <a:lnSpc>
                <a:spcPct val="200000"/>
              </a:lnSpc>
              <a:buClr>
                <a:srgbClr val="E8A020"/>
              </a:buClr>
              <a:buSzPct val="130000"/>
              <a:buFont typeface="Wingdings" panose="05000000000000000000" pitchFamily="2" charset="2"/>
              <a:buChar char="Ø"/>
            </a:pPr>
            <a:endParaRPr lang="it-IT" sz="1500" dirty="0">
              <a:solidFill>
                <a:schemeClr val="bg1"/>
              </a:solidFill>
            </a:endParaRPr>
          </a:p>
        </p:txBody>
      </p:sp>
      <p:sp>
        <p:nvSpPr>
          <p:cNvPr id="3" name="Text 10">
            <a:extLst>
              <a:ext uri="{FF2B5EF4-FFF2-40B4-BE49-F238E27FC236}">
                <a16:creationId xmlns:a16="http://schemas.microsoft.com/office/drawing/2014/main" id="{1D0F7643-CF1C-AAE5-884B-FAB03EE57569}"/>
              </a:ext>
            </a:extLst>
          </p:cNvPr>
          <p:cNvSpPr/>
          <p:nvPr/>
        </p:nvSpPr>
        <p:spPr>
          <a:xfrm>
            <a:off x="724883" y="4400172"/>
            <a:ext cx="7694234" cy="348574"/>
          </a:xfrm>
          <a:prstGeom prst="rect">
            <a:avLst/>
          </a:prstGeom>
          <a:noFill/>
          <a:ln/>
        </p:spPr>
        <p:txBody>
          <a:bodyPr wrap="square" lIns="0" tIns="0" rIns="0" bIns="0" rtlCol="0" anchor="ctr"/>
          <a:lstStyle/>
          <a:p>
            <a:pPr>
              <a:lnSpc>
                <a:spcPct val="130000"/>
              </a:lnSpc>
            </a:pPr>
            <a:r>
              <a:rPr lang="en-US" sz="1200" dirty="0">
                <a:solidFill>
                  <a:schemeClr val="bg1"/>
                </a:solidFill>
                <a:latin typeface="Times New Roman" panose="02020603050405020304" pitchFamily="18" charset="0"/>
                <a:cs typeface="Times New Roman" panose="02020603050405020304" pitchFamily="18" charset="0"/>
              </a:rPr>
              <a:t>Summerset Continental, Fraser Suites Abuja, Transcorp Hilton Abuja, Abuja Continental, Best Premier Maitama Residence, </a:t>
            </a:r>
          </a:p>
          <a:p>
            <a:pPr>
              <a:lnSpc>
                <a:spcPct val="130000"/>
              </a:lnSpc>
            </a:pPr>
            <a:r>
              <a:rPr lang="en-US" sz="1200" dirty="0">
                <a:solidFill>
                  <a:schemeClr val="bg1"/>
                </a:solidFill>
                <a:latin typeface="Times New Roman" panose="02020603050405020304" pitchFamily="18" charset="0"/>
                <a:cs typeface="Times New Roman" panose="02020603050405020304" pitchFamily="18" charset="0"/>
              </a:rPr>
              <a:t>                                           </a:t>
            </a:r>
            <a:r>
              <a:rPr lang="en-US" sz="1200" dirty="0" err="1">
                <a:solidFill>
                  <a:schemeClr val="bg1"/>
                </a:solidFill>
                <a:latin typeface="Times New Roman" panose="02020603050405020304" pitchFamily="18" charset="0"/>
                <a:cs typeface="Times New Roman" panose="02020603050405020304" pitchFamily="18" charset="0"/>
              </a:rPr>
              <a:t>Nicon</a:t>
            </a:r>
            <a:r>
              <a:rPr lang="en-US" sz="1200" dirty="0">
                <a:solidFill>
                  <a:schemeClr val="bg1"/>
                </a:solidFill>
                <a:latin typeface="Times New Roman" panose="02020603050405020304" pitchFamily="18" charset="0"/>
                <a:cs typeface="Times New Roman" panose="02020603050405020304" pitchFamily="18" charset="0"/>
              </a:rPr>
              <a:t> Luxury, The Wells Carlton, and Bolton White Residence Hotel. </a:t>
            </a:r>
          </a:p>
        </p:txBody>
      </p:sp>
      <p:sp>
        <p:nvSpPr>
          <p:cNvPr id="22" name="Rectangle 21">
            <a:extLst>
              <a:ext uri="{FF2B5EF4-FFF2-40B4-BE49-F238E27FC236}">
                <a16:creationId xmlns:a16="http://schemas.microsoft.com/office/drawing/2014/main" id="{E74DD805-D3E2-6FEC-45AF-F91855739DF2}"/>
              </a:ext>
            </a:extLst>
          </p:cNvPr>
          <p:cNvSpPr/>
          <p:nvPr/>
        </p:nvSpPr>
        <p:spPr>
          <a:xfrm>
            <a:off x="0" y="4846321"/>
            <a:ext cx="9144000" cy="299830"/>
          </a:xfrm>
          <a:prstGeom prst="rect">
            <a:avLst/>
          </a:prstGeom>
          <a:solidFill>
            <a:srgbClr val="E8A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Text 10">
            <a:extLst>
              <a:ext uri="{FF2B5EF4-FFF2-40B4-BE49-F238E27FC236}">
                <a16:creationId xmlns:a16="http://schemas.microsoft.com/office/drawing/2014/main" id="{FA3D12CF-88C4-561D-97BE-B5FC8DB23DB3}"/>
              </a:ext>
            </a:extLst>
          </p:cNvPr>
          <p:cNvSpPr/>
          <p:nvPr/>
        </p:nvSpPr>
        <p:spPr>
          <a:xfrm>
            <a:off x="3641800" y="4846321"/>
            <a:ext cx="1781590" cy="256032"/>
          </a:xfrm>
          <a:prstGeom prst="rect">
            <a:avLst/>
          </a:prstGeom>
          <a:noFill/>
          <a:ln/>
        </p:spPr>
        <p:txBody>
          <a:bodyPr wrap="square" lIns="0" tIns="0" rIns="0" bIns="0" rtlCol="0" anchor="ctr"/>
          <a:lstStyle/>
          <a:p>
            <a:pPr algn="ctr">
              <a:lnSpc>
                <a:spcPct val="130000"/>
              </a:lnSpc>
            </a:pPr>
            <a:r>
              <a:rPr lang="en-US" sz="1200" b="1" dirty="0">
                <a:solidFill>
                  <a:srgbClr val="1A1A2E"/>
                </a:solidFill>
                <a:latin typeface="Times New Roman" panose="02020603050405020304" pitchFamily="18" charset="0"/>
                <a:cs typeface="Times New Roman" panose="02020603050405020304" pitchFamily="18" charset="0"/>
              </a:rPr>
              <a:t>Selected Hotels in Abuja</a:t>
            </a:r>
          </a:p>
        </p:txBody>
      </p:sp>
    </p:spTree>
    <p:extLst>
      <p:ext uri="{BB962C8B-B14F-4D97-AF65-F5344CB8AC3E}">
        <p14:creationId xmlns:p14="http://schemas.microsoft.com/office/powerpoint/2010/main" val="622017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a:extLst>
            <a:ext uri="{FF2B5EF4-FFF2-40B4-BE49-F238E27FC236}">
              <a16:creationId xmlns:a16="http://schemas.microsoft.com/office/drawing/2014/main" id="{FE38F9F3-7E5D-3EBE-DD2D-42B465B5B574}"/>
            </a:ext>
          </a:extLst>
        </p:cNvPr>
        <p:cNvGrpSpPr/>
        <p:nvPr/>
      </p:nvGrpSpPr>
      <p:grpSpPr>
        <a:xfrm>
          <a:off x="0" y="0"/>
          <a:ext cx="0" cy="0"/>
          <a:chOff x="0" y="0"/>
          <a:chExt cx="0" cy="0"/>
        </a:xfrm>
      </p:grpSpPr>
      <p:pic>
        <p:nvPicPr>
          <p:cNvPr id="40" name="Picture 39">
            <a:extLst>
              <a:ext uri="{FF2B5EF4-FFF2-40B4-BE49-F238E27FC236}">
                <a16:creationId xmlns:a16="http://schemas.microsoft.com/office/drawing/2014/main" id="{A49A19FF-9BAC-79FE-F880-DC0DFC7B3648}"/>
              </a:ext>
            </a:extLst>
          </p:cNvPr>
          <p:cNvPicPr>
            <a:picLocks noGrp="1" noRot="1" noChangeAspect="1" noMove="1" noResize="1" noEditPoints="1" noAdjustHandles="1" noChangeArrowheads="1" noChangeShapeType="1" noCrop="1"/>
          </p:cNvPicPr>
          <p:nvPr/>
        </p:nvPicPr>
        <p:blipFill>
          <a:blip r:embed="rId3">
            <a:alphaModFix amt="10000"/>
          </a:blip>
          <a:stretch>
            <a:fillRect/>
          </a:stretch>
        </p:blipFill>
        <p:spPr>
          <a:xfrm>
            <a:off x="4060" y="0"/>
            <a:ext cx="9135879" cy="5143500"/>
          </a:xfrm>
          <a:prstGeom prst="rect">
            <a:avLst/>
          </a:prstGeom>
        </p:spPr>
      </p:pic>
      <p:sp>
        <p:nvSpPr>
          <p:cNvPr id="2" name="Shape 0">
            <a:extLst>
              <a:ext uri="{FF2B5EF4-FFF2-40B4-BE49-F238E27FC236}">
                <a16:creationId xmlns:a16="http://schemas.microsoft.com/office/drawing/2014/main" id="{521A8F0F-21F5-3445-51B9-1FB533BDA1C7}"/>
              </a:ext>
            </a:extLst>
          </p:cNvPr>
          <p:cNvSpPr/>
          <p:nvPr/>
        </p:nvSpPr>
        <p:spPr>
          <a:xfrm>
            <a:off x="0" y="1"/>
            <a:ext cx="9144000" cy="548640"/>
          </a:xfrm>
          <a:prstGeom prst="rect">
            <a:avLst/>
          </a:prstGeom>
          <a:solidFill>
            <a:srgbClr val="16213E"/>
          </a:solidFill>
          <a:ln w="12700">
            <a:solidFill>
              <a:srgbClr val="16213E"/>
            </a:solidFill>
            <a:prstDash val="solid"/>
          </a:ln>
        </p:spPr>
        <p:txBody>
          <a:bodyPr/>
          <a:lstStyle/>
          <a:p>
            <a:endParaRPr lang="it-IT"/>
          </a:p>
        </p:txBody>
      </p:sp>
      <p:sp>
        <p:nvSpPr>
          <p:cNvPr id="4" name="Text 2">
            <a:extLst>
              <a:ext uri="{FF2B5EF4-FFF2-40B4-BE49-F238E27FC236}">
                <a16:creationId xmlns:a16="http://schemas.microsoft.com/office/drawing/2014/main" id="{F561BC31-291B-D618-AEF2-A661A324F85F}"/>
              </a:ext>
            </a:extLst>
          </p:cNvPr>
          <p:cNvSpPr/>
          <p:nvPr/>
        </p:nvSpPr>
        <p:spPr>
          <a:xfrm>
            <a:off x="2743199" y="108186"/>
            <a:ext cx="3657600" cy="365760"/>
          </a:xfrm>
          <a:prstGeom prst="rect">
            <a:avLst/>
          </a:prstGeom>
          <a:noFill/>
          <a:ln/>
        </p:spPr>
        <p:txBody>
          <a:bodyPr wrap="square" lIns="0" tIns="0" rIns="0" bIns="0" rtlCol="0" anchor="ctr"/>
          <a:lstStyle/>
          <a:p>
            <a:pPr marL="0" indent="0" algn="ctr">
              <a:buNone/>
            </a:pPr>
            <a:r>
              <a:rPr lang="en-US" b="1" kern="0" spc="200" dirty="0">
                <a:solidFill>
                  <a:srgbClr val="E8A020"/>
                </a:solidFill>
                <a:latin typeface="Times New Roman" panose="02020603050405020304" pitchFamily="18" charset="0"/>
                <a:cs typeface="Times New Roman" panose="02020603050405020304" pitchFamily="18" charset="0"/>
              </a:rPr>
              <a:t>DATA CLEANING PROCESS</a:t>
            </a:r>
            <a:endParaRPr lang="en-US" dirty="0">
              <a:solidFill>
                <a:srgbClr val="E8A02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EBD7929-5883-8760-848E-8E91383A9705}"/>
              </a:ext>
            </a:extLst>
          </p:cNvPr>
          <p:cNvSpPr txBox="1"/>
          <p:nvPr/>
        </p:nvSpPr>
        <p:spPr>
          <a:xfrm>
            <a:off x="198305" y="578000"/>
            <a:ext cx="8747392" cy="738664"/>
          </a:xfrm>
          <a:prstGeom prst="rect">
            <a:avLst/>
          </a:prstGeom>
          <a:noFill/>
        </p:spPr>
        <p:txBody>
          <a:bodyPr wrap="square" rtlCol="0">
            <a:spAutoFit/>
          </a:bodyPr>
          <a:lstStyle/>
          <a:p>
            <a:pPr algn="just"/>
            <a:r>
              <a:rPr lang="en-US" sz="1400" dirty="0">
                <a:solidFill>
                  <a:schemeClr val="bg1"/>
                </a:solidFill>
                <a:latin typeface="Times New Roman" panose="02020603050405020304" pitchFamily="18" charset="0"/>
                <a:cs typeface="Times New Roman" panose="02020603050405020304" pitchFamily="18" charset="0"/>
              </a:rPr>
              <a:t>The dataset initially contained six (6) columns. To ensure the data was relevant to the research objectives and analysis, several data cleaning procedures were carried out:</a:t>
            </a:r>
            <a:endParaRPr lang="it-IT" sz="1400" dirty="0">
              <a:solidFill>
                <a:schemeClr val="bg1"/>
              </a:solidFill>
              <a:latin typeface="Times New Roman" panose="02020603050405020304" pitchFamily="18" charset="0"/>
              <a:cs typeface="Times New Roman" panose="02020603050405020304" pitchFamily="18" charset="0"/>
            </a:endParaRPr>
          </a:p>
          <a:p>
            <a:pPr algn="just"/>
            <a:endParaRPr lang="it-IT" sz="1400" dirty="0">
              <a:solidFill>
                <a:schemeClr val="bg1"/>
              </a:solidFill>
              <a:latin typeface="Times New Roman" panose="02020603050405020304" pitchFamily="18" charset="0"/>
              <a:cs typeface="Times New Roman" panose="02020603050405020304" pitchFamily="18" charset="0"/>
            </a:endParaRPr>
          </a:p>
        </p:txBody>
      </p:sp>
      <p:sp>
        <p:nvSpPr>
          <p:cNvPr id="20" name="Shape 3">
            <a:extLst>
              <a:ext uri="{FF2B5EF4-FFF2-40B4-BE49-F238E27FC236}">
                <a16:creationId xmlns:a16="http://schemas.microsoft.com/office/drawing/2014/main" id="{499B427B-4D89-DA2A-F13E-9965B93D94D6}"/>
              </a:ext>
            </a:extLst>
          </p:cNvPr>
          <p:cNvSpPr/>
          <p:nvPr/>
        </p:nvSpPr>
        <p:spPr>
          <a:xfrm>
            <a:off x="277625" y="1147178"/>
            <a:ext cx="8668070" cy="457200"/>
          </a:xfrm>
          <a:prstGeom prst="rect">
            <a:avLst/>
          </a:prstGeom>
          <a:solidFill>
            <a:srgbClr val="FFFFFF"/>
          </a:solidFill>
          <a:ln w="12700">
            <a:solidFill>
              <a:srgbClr val="E0E0E0"/>
            </a:solidFill>
            <a:prstDash val="solid"/>
          </a:ln>
          <a:effectLst>
            <a:outerShdw blurRad="127000" dist="38100" dir="8100000" algn="bl" rotWithShape="0">
              <a:srgbClr val="000000">
                <a:alpha val="12000"/>
              </a:srgbClr>
            </a:outerShdw>
          </a:effectLst>
        </p:spPr>
        <p:txBody>
          <a:bodyPr/>
          <a:lstStyle/>
          <a:p>
            <a:endParaRPr lang="it-IT"/>
          </a:p>
        </p:txBody>
      </p:sp>
      <p:sp>
        <p:nvSpPr>
          <p:cNvPr id="21" name="Text 6">
            <a:extLst>
              <a:ext uri="{FF2B5EF4-FFF2-40B4-BE49-F238E27FC236}">
                <a16:creationId xmlns:a16="http://schemas.microsoft.com/office/drawing/2014/main" id="{BFE9B681-D299-DD66-0EBE-56071DBD96B2}"/>
              </a:ext>
            </a:extLst>
          </p:cNvPr>
          <p:cNvSpPr/>
          <p:nvPr/>
        </p:nvSpPr>
        <p:spPr>
          <a:xfrm>
            <a:off x="516614" y="1147839"/>
            <a:ext cx="7498080" cy="457200"/>
          </a:xfrm>
          <a:prstGeom prst="rect">
            <a:avLst/>
          </a:prstGeom>
          <a:noFill/>
          <a:ln/>
        </p:spPr>
        <p:txBody>
          <a:bodyPr wrap="square" lIns="0" tIns="0" rIns="0" bIns="0" rtlCol="0" anchor="ctr"/>
          <a:lstStyle/>
          <a:p>
            <a:pPr marL="285750" lvl="0" indent="-285750">
              <a:buClr>
                <a:srgbClr val="E8A020"/>
              </a:buCl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We</a:t>
            </a:r>
            <a:r>
              <a:rPr lang="en-US" sz="1400" b="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removed irrelevant columns (</a:t>
            </a:r>
            <a:r>
              <a:rPr lang="en-US" sz="1400" b="1" dirty="0">
                <a:latin typeface="Times New Roman" panose="02020603050405020304" pitchFamily="18" charset="0"/>
                <a:cs typeface="Times New Roman" panose="02020603050405020304" pitchFamily="18" charset="0"/>
              </a:rPr>
              <a:t>URL</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Review URL</a:t>
            </a:r>
            <a:r>
              <a:rPr lang="en-US" sz="1400" dirty="0">
                <a:latin typeface="Times New Roman" panose="02020603050405020304" pitchFamily="18" charset="0"/>
                <a:cs typeface="Times New Roman" panose="02020603050405020304" pitchFamily="18" charset="0"/>
              </a:rPr>
              <a:t>) as they were not required for the analysis.</a:t>
            </a:r>
            <a:endParaRPr lang="it-IT" sz="1400" dirty="0">
              <a:latin typeface="Times New Roman" panose="02020603050405020304" pitchFamily="18" charset="0"/>
              <a:cs typeface="Times New Roman" panose="02020603050405020304" pitchFamily="18" charset="0"/>
            </a:endParaRPr>
          </a:p>
        </p:txBody>
      </p:sp>
      <p:sp>
        <p:nvSpPr>
          <p:cNvPr id="22" name="Shape 7">
            <a:extLst>
              <a:ext uri="{FF2B5EF4-FFF2-40B4-BE49-F238E27FC236}">
                <a16:creationId xmlns:a16="http://schemas.microsoft.com/office/drawing/2014/main" id="{A44F43CC-961E-259C-DA39-24150B0D53FC}"/>
              </a:ext>
            </a:extLst>
          </p:cNvPr>
          <p:cNvSpPr/>
          <p:nvPr/>
        </p:nvSpPr>
        <p:spPr>
          <a:xfrm>
            <a:off x="277625" y="2225197"/>
            <a:ext cx="8668070" cy="548640"/>
          </a:xfrm>
          <a:prstGeom prst="rect">
            <a:avLst/>
          </a:prstGeom>
          <a:solidFill>
            <a:srgbClr val="FFFFFF"/>
          </a:solidFill>
          <a:ln w="12700">
            <a:solidFill>
              <a:srgbClr val="E0E0E0"/>
            </a:solidFill>
            <a:prstDash val="solid"/>
          </a:ln>
          <a:effectLst>
            <a:outerShdw blurRad="127000" dist="38100" dir="8100000" algn="bl" rotWithShape="0">
              <a:srgbClr val="000000">
                <a:alpha val="12000"/>
              </a:srgbClr>
            </a:outerShdw>
          </a:effectLst>
        </p:spPr>
        <p:txBody>
          <a:bodyPr/>
          <a:lstStyle/>
          <a:p>
            <a:endParaRPr lang="it-IT"/>
          </a:p>
        </p:txBody>
      </p:sp>
      <p:sp>
        <p:nvSpPr>
          <p:cNvPr id="23" name="Text 10">
            <a:extLst>
              <a:ext uri="{FF2B5EF4-FFF2-40B4-BE49-F238E27FC236}">
                <a16:creationId xmlns:a16="http://schemas.microsoft.com/office/drawing/2014/main" id="{F0323AB7-D93B-FDAA-CB6E-F196E8FF744B}"/>
              </a:ext>
            </a:extLst>
          </p:cNvPr>
          <p:cNvSpPr/>
          <p:nvPr/>
        </p:nvSpPr>
        <p:spPr>
          <a:xfrm>
            <a:off x="516614" y="2270917"/>
            <a:ext cx="8349761" cy="457200"/>
          </a:xfrm>
          <a:prstGeom prst="rect">
            <a:avLst/>
          </a:prstGeom>
          <a:noFill/>
          <a:ln/>
        </p:spPr>
        <p:txBody>
          <a:bodyPr wrap="square" lIns="0" tIns="0" rIns="0" bIns="0" rtlCol="0" anchor="ctr"/>
          <a:lstStyle/>
          <a:p>
            <a:pPr marL="285750" lvl="0" indent="-285750">
              <a:buClr>
                <a:srgbClr val="E8A020"/>
              </a:buCl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We retained records with ratings but no reviews, and reviews but no ratings, as both variables were important for the analysis.</a:t>
            </a:r>
            <a:endParaRPr lang="it-IT" sz="1400" dirty="0">
              <a:latin typeface="Times New Roman" panose="02020603050405020304" pitchFamily="18" charset="0"/>
              <a:cs typeface="Times New Roman" panose="02020603050405020304" pitchFamily="18" charset="0"/>
            </a:endParaRPr>
          </a:p>
        </p:txBody>
      </p:sp>
      <p:sp>
        <p:nvSpPr>
          <p:cNvPr id="28" name="Shape 3">
            <a:extLst>
              <a:ext uri="{FF2B5EF4-FFF2-40B4-BE49-F238E27FC236}">
                <a16:creationId xmlns:a16="http://schemas.microsoft.com/office/drawing/2014/main" id="{22B2CB94-7976-DA1E-E73F-6A518A6C162D}"/>
              </a:ext>
            </a:extLst>
          </p:cNvPr>
          <p:cNvSpPr/>
          <p:nvPr/>
        </p:nvSpPr>
        <p:spPr>
          <a:xfrm>
            <a:off x="277625" y="1686674"/>
            <a:ext cx="8668070" cy="457200"/>
          </a:xfrm>
          <a:prstGeom prst="rect">
            <a:avLst/>
          </a:prstGeom>
          <a:solidFill>
            <a:srgbClr val="FFFFFF"/>
          </a:solidFill>
          <a:ln w="12700">
            <a:solidFill>
              <a:srgbClr val="E0E0E0"/>
            </a:solidFill>
            <a:prstDash val="solid"/>
          </a:ln>
          <a:effectLst>
            <a:outerShdw blurRad="127000" dist="38100" dir="8100000" algn="bl" rotWithShape="0">
              <a:srgbClr val="000000">
                <a:alpha val="12000"/>
              </a:srgbClr>
            </a:outerShdw>
          </a:effectLst>
        </p:spPr>
        <p:txBody>
          <a:bodyPr/>
          <a:lstStyle/>
          <a:p>
            <a:endParaRPr lang="it-IT"/>
          </a:p>
        </p:txBody>
      </p:sp>
      <p:sp>
        <p:nvSpPr>
          <p:cNvPr id="38" name="Text 6">
            <a:extLst>
              <a:ext uri="{FF2B5EF4-FFF2-40B4-BE49-F238E27FC236}">
                <a16:creationId xmlns:a16="http://schemas.microsoft.com/office/drawing/2014/main" id="{FDD5C135-CBE8-31BF-F314-92C16BCA3325}"/>
              </a:ext>
            </a:extLst>
          </p:cNvPr>
          <p:cNvSpPr/>
          <p:nvPr/>
        </p:nvSpPr>
        <p:spPr>
          <a:xfrm>
            <a:off x="516614" y="1687335"/>
            <a:ext cx="7498080" cy="457200"/>
          </a:xfrm>
          <a:prstGeom prst="rect">
            <a:avLst/>
          </a:prstGeom>
          <a:noFill/>
          <a:ln/>
        </p:spPr>
        <p:txBody>
          <a:bodyPr wrap="square" lIns="0" tIns="0" rIns="0" bIns="0" rtlCol="0" anchor="ctr"/>
          <a:lstStyle/>
          <a:p>
            <a:pPr marL="285750" lvl="0" indent="-285750">
              <a:buClr>
                <a:srgbClr val="E8A020"/>
              </a:buCl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We removed duplicate records based on hotel name, rating, and review content.</a:t>
            </a:r>
            <a:endParaRPr lang="it-IT" sz="1400" dirty="0">
              <a:latin typeface="Times New Roman" panose="02020603050405020304" pitchFamily="18" charset="0"/>
              <a:cs typeface="Times New Roman" panose="02020603050405020304" pitchFamily="18" charset="0"/>
            </a:endParaRPr>
          </a:p>
        </p:txBody>
      </p:sp>
      <p:sp>
        <p:nvSpPr>
          <p:cNvPr id="39" name="Shape 3">
            <a:extLst>
              <a:ext uri="{FF2B5EF4-FFF2-40B4-BE49-F238E27FC236}">
                <a16:creationId xmlns:a16="http://schemas.microsoft.com/office/drawing/2014/main" id="{8C4700C4-BCCB-67BD-8547-68439FC9DE78}"/>
              </a:ext>
            </a:extLst>
          </p:cNvPr>
          <p:cNvSpPr/>
          <p:nvPr/>
        </p:nvSpPr>
        <p:spPr>
          <a:xfrm>
            <a:off x="277625" y="2854499"/>
            <a:ext cx="8668070" cy="457200"/>
          </a:xfrm>
          <a:prstGeom prst="rect">
            <a:avLst/>
          </a:prstGeom>
          <a:solidFill>
            <a:srgbClr val="FFFFFF"/>
          </a:solidFill>
          <a:ln w="12700">
            <a:solidFill>
              <a:srgbClr val="E0E0E0"/>
            </a:solidFill>
            <a:prstDash val="solid"/>
          </a:ln>
          <a:effectLst>
            <a:outerShdw blurRad="127000" dist="38100" dir="8100000" algn="bl" rotWithShape="0">
              <a:srgbClr val="000000">
                <a:alpha val="12000"/>
              </a:srgbClr>
            </a:outerShdw>
          </a:effectLst>
        </p:spPr>
        <p:txBody>
          <a:bodyPr/>
          <a:lstStyle/>
          <a:p>
            <a:endParaRPr lang="it-IT"/>
          </a:p>
        </p:txBody>
      </p:sp>
      <p:sp>
        <p:nvSpPr>
          <p:cNvPr id="41" name="Text 6">
            <a:extLst>
              <a:ext uri="{FF2B5EF4-FFF2-40B4-BE49-F238E27FC236}">
                <a16:creationId xmlns:a16="http://schemas.microsoft.com/office/drawing/2014/main" id="{F75A0321-EBA6-039E-7731-BE7BDD98E1F7}"/>
              </a:ext>
            </a:extLst>
          </p:cNvPr>
          <p:cNvSpPr/>
          <p:nvPr/>
        </p:nvSpPr>
        <p:spPr>
          <a:xfrm>
            <a:off x="516614" y="2855160"/>
            <a:ext cx="8349760" cy="457200"/>
          </a:xfrm>
          <a:prstGeom prst="rect">
            <a:avLst/>
          </a:prstGeom>
          <a:noFill/>
          <a:ln/>
        </p:spPr>
        <p:txBody>
          <a:bodyPr wrap="square" lIns="0" tIns="0" rIns="0" bIns="0" rtlCol="0" anchor="ctr"/>
          <a:lstStyle/>
          <a:p>
            <a:pPr marL="285750" lvl="0" indent="-285750">
              <a:buClr>
                <a:srgbClr val="E8A020"/>
              </a:buCl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Missing values were labeled as </a:t>
            </a:r>
            <a:r>
              <a:rPr lang="en-US" sz="1400" b="1" dirty="0">
                <a:latin typeface="Times New Roman" panose="02020603050405020304" pitchFamily="18" charset="0"/>
                <a:cs typeface="Times New Roman" panose="02020603050405020304" pitchFamily="18" charset="0"/>
              </a:rPr>
              <a:t>"No Rating"</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"No Review"</a:t>
            </a:r>
            <a:r>
              <a:rPr lang="en-US" sz="1400" dirty="0">
                <a:latin typeface="Times New Roman" panose="02020603050405020304" pitchFamily="18" charset="0"/>
                <a:cs typeface="Times New Roman" panose="02020603050405020304" pitchFamily="18" charset="0"/>
              </a:rPr>
              <a:t> instead of being replaced with estimated values.</a:t>
            </a:r>
            <a:endParaRPr lang="it-IT" sz="1400" dirty="0">
              <a:latin typeface="Times New Roman" panose="02020603050405020304" pitchFamily="18" charset="0"/>
              <a:cs typeface="Times New Roman" panose="02020603050405020304" pitchFamily="18" charset="0"/>
            </a:endParaRPr>
          </a:p>
        </p:txBody>
      </p:sp>
      <p:sp>
        <p:nvSpPr>
          <p:cNvPr id="42" name="Shape 3">
            <a:extLst>
              <a:ext uri="{FF2B5EF4-FFF2-40B4-BE49-F238E27FC236}">
                <a16:creationId xmlns:a16="http://schemas.microsoft.com/office/drawing/2014/main" id="{4370B989-951B-F023-AA32-5A70B8D8201A}"/>
              </a:ext>
            </a:extLst>
          </p:cNvPr>
          <p:cNvSpPr/>
          <p:nvPr/>
        </p:nvSpPr>
        <p:spPr>
          <a:xfrm>
            <a:off x="277625" y="3392361"/>
            <a:ext cx="8668070" cy="457200"/>
          </a:xfrm>
          <a:prstGeom prst="rect">
            <a:avLst/>
          </a:prstGeom>
          <a:solidFill>
            <a:srgbClr val="FFFFFF"/>
          </a:solidFill>
          <a:ln w="12700">
            <a:solidFill>
              <a:srgbClr val="E0E0E0"/>
            </a:solidFill>
            <a:prstDash val="solid"/>
          </a:ln>
          <a:effectLst>
            <a:outerShdw blurRad="127000" dist="38100" dir="8100000" algn="bl" rotWithShape="0">
              <a:srgbClr val="000000">
                <a:alpha val="12000"/>
              </a:srgbClr>
            </a:outerShdw>
          </a:effectLst>
        </p:spPr>
        <p:txBody>
          <a:bodyPr/>
          <a:lstStyle/>
          <a:p>
            <a:endParaRPr lang="it-IT"/>
          </a:p>
        </p:txBody>
      </p:sp>
      <p:sp>
        <p:nvSpPr>
          <p:cNvPr id="27" name="Text 18">
            <a:extLst>
              <a:ext uri="{FF2B5EF4-FFF2-40B4-BE49-F238E27FC236}">
                <a16:creationId xmlns:a16="http://schemas.microsoft.com/office/drawing/2014/main" id="{AB7CA617-B9DB-4BF9-9DDC-9601D377A95D}"/>
              </a:ext>
            </a:extLst>
          </p:cNvPr>
          <p:cNvSpPr/>
          <p:nvPr/>
        </p:nvSpPr>
        <p:spPr>
          <a:xfrm>
            <a:off x="516614" y="3496415"/>
            <a:ext cx="8349760" cy="364163"/>
          </a:xfrm>
          <a:prstGeom prst="rect">
            <a:avLst/>
          </a:prstGeom>
          <a:noFill/>
          <a:ln/>
        </p:spPr>
        <p:txBody>
          <a:bodyPr wrap="square" lIns="0" tIns="0" rIns="0" bIns="0" rtlCol="0" anchor="ctr"/>
          <a:lstStyle/>
          <a:p>
            <a:pPr marL="285750" indent="-285750">
              <a:buClr>
                <a:srgbClr val="E8A020"/>
              </a:buCl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We created three new columns: </a:t>
            </a:r>
            <a:r>
              <a:rPr lang="it-IT" sz="1400" dirty="0">
                <a:latin typeface="Times New Roman" panose="02020603050405020304" pitchFamily="18" charset="0"/>
                <a:cs typeface="Times New Roman" panose="02020603050405020304" pitchFamily="18" charset="0"/>
              </a:rPr>
              <a:t>Rate Category  </a:t>
            </a:r>
            <a:r>
              <a:rPr lang="it-IT" sz="1400" b="1" dirty="0">
                <a:latin typeface="Times New Roman" panose="02020603050405020304" pitchFamily="18" charset="0"/>
                <a:cs typeface="Times New Roman" panose="02020603050405020304" pitchFamily="18" charset="0"/>
              </a:rPr>
              <a:t>|</a:t>
            </a:r>
            <a:r>
              <a:rPr lang="it-IT"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Review Category</a:t>
            </a:r>
            <a:r>
              <a:rPr lang="it-IT" sz="1400" dirty="0">
                <a:latin typeface="Times New Roman" panose="02020603050405020304" pitchFamily="18" charset="0"/>
                <a:cs typeface="Times New Roman" panose="02020603050405020304" pitchFamily="18" charset="0"/>
              </a:rPr>
              <a:t>  </a:t>
            </a:r>
            <a:r>
              <a:rPr lang="it-IT" sz="1400" b="1" dirty="0">
                <a:latin typeface="Times New Roman" panose="02020603050405020304" pitchFamily="18" charset="0"/>
                <a:cs typeface="Times New Roman" panose="02020603050405020304" pitchFamily="18" charset="0"/>
              </a:rPr>
              <a:t>|</a:t>
            </a:r>
            <a:r>
              <a:rPr lang="it-IT" sz="1400" dirty="0">
                <a:latin typeface="Times New Roman" panose="02020603050405020304" pitchFamily="18" charset="0"/>
                <a:cs typeface="Times New Roman" panose="02020603050405020304" pitchFamily="18" charset="0"/>
              </a:rPr>
              <a:t>  Guest Perception  </a:t>
            </a:r>
          </a:p>
          <a:p>
            <a:pPr lvl="0"/>
            <a:endParaRPr lang="it-IT" sz="1400" dirty="0">
              <a:latin typeface="Times New Roman" panose="02020603050405020304" pitchFamily="18" charset="0"/>
              <a:cs typeface="Times New Roman" panose="02020603050405020304" pitchFamily="18" charset="0"/>
            </a:endParaRPr>
          </a:p>
        </p:txBody>
      </p:sp>
      <p:sp>
        <p:nvSpPr>
          <p:cNvPr id="43" name="Shape 3">
            <a:extLst>
              <a:ext uri="{FF2B5EF4-FFF2-40B4-BE49-F238E27FC236}">
                <a16:creationId xmlns:a16="http://schemas.microsoft.com/office/drawing/2014/main" id="{123EB6B3-5D1F-A93B-1D12-3EBABC234D5F}"/>
              </a:ext>
            </a:extLst>
          </p:cNvPr>
          <p:cNvSpPr/>
          <p:nvPr/>
        </p:nvSpPr>
        <p:spPr>
          <a:xfrm>
            <a:off x="277625" y="3940064"/>
            <a:ext cx="8668070" cy="457200"/>
          </a:xfrm>
          <a:prstGeom prst="rect">
            <a:avLst/>
          </a:prstGeom>
          <a:solidFill>
            <a:srgbClr val="FFFFFF"/>
          </a:solidFill>
          <a:ln w="12700">
            <a:solidFill>
              <a:srgbClr val="E0E0E0"/>
            </a:solidFill>
            <a:prstDash val="solid"/>
          </a:ln>
          <a:effectLst>
            <a:outerShdw blurRad="127000" dist="38100" dir="8100000" algn="bl" rotWithShape="0">
              <a:srgbClr val="000000">
                <a:alpha val="12000"/>
              </a:srgbClr>
            </a:outerShdw>
          </a:effectLst>
        </p:spPr>
        <p:txBody>
          <a:bodyPr/>
          <a:lstStyle/>
          <a:p>
            <a:endParaRPr lang="it-IT"/>
          </a:p>
        </p:txBody>
      </p:sp>
      <p:sp>
        <p:nvSpPr>
          <p:cNvPr id="44" name="Text 18">
            <a:extLst>
              <a:ext uri="{FF2B5EF4-FFF2-40B4-BE49-F238E27FC236}">
                <a16:creationId xmlns:a16="http://schemas.microsoft.com/office/drawing/2014/main" id="{D3926092-1DC6-9756-20B8-9BE83526AE19}"/>
              </a:ext>
            </a:extLst>
          </p:cNvPr>
          <p:cNvSpPr/>
          <p:nvPr/>
        </p:nvSpPr>
        <p:spPr>
          <a:xfrm>
            <a:off x="516614" y="3947941"/>
            <a:ext cx="8349760" cy="364163"/>
          </a:xfrm>
          <a:prstGeom prst="rect">
            <a:avLst/>
          </a:prstGeom>
          <a:noFill/>
          <a:ln/>
        </p:spPr>
        <p:txBody>
          <a:bodyPr wrap="square" lIns="0" tIns="0" rIns="0" bIns="0" rtlCol="0" anchor="ctr"/>
          <a:lstStyle/>
          <a:p>
            <a:pPr marL="285750" lvl="0" indent="-285750">
              <a:buClr>
                <a:srgbClr val="E8A020"/>
              </a:buCl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We sorted </a:t>
            </a:r>
            <a:r>
              <a:rPr lang="en-US" sz="1400" b="1" dirty="0">
                <a:latin typeface="Times New Roman" panose="02020603050405020304" pitchFamily="18" charset="0"/>
                <a:cs typeface="Times New Roman" panose="02020603050405020304" pitchFamily="18" charset="0"/>
              </a:rPr>
              <a:t>Guest Perception </a:t>
            </a:r>
            <a:r>
              <a:rPr lang="en-US" sz="1400" dirty="0">
                <a:latin typeface="Times New Roman" panose="02020603050405020304" pitchFamily="18" charset="0"/>
                <a:cs typeface="Times New Roman" panose="02020603050405020304" pitchFamily="18" charset="0"/>
              </a:rPr>
              <a:t>column manually to ensure accurate opinion categorization.</a:t>
            </a:r>
            <a:endParaRPr lang="it-IT" sz="1400" dirty="0">
              <a:latin typeface="Times New Roman" panose="02020603050405020304" pitchFamily="18" charset="0"/>
              <a:cs typeface="Times New Roman" panose="02020603050405020304" pitchFamily="18" charset="0"/>
            </a:endParaRPr>
          </a:p>
        </p:txBody>
      </p:sp>
      <p:sp>
        <p:nvSpPr>
          <p:cNvPr id="46" name="Shape 3">
            <a:extLst>
              <a:ext uri="{FF2B5EF4-FFF2-40B4-BE49-F238E27FC236}">
                <a16:creationId xmlns:a16="http://schemas.microsoft.com/office/drawing/2014/main" id="{C4558123-CA2E-8D37-34B5-1241ECA08DBD}"/>
              </a:ext>
            </a:extLst>
          </p:cNvPr>
          <p:cNvSpPr/>
          <p:nvPr/>
        </p:nvSpPr>
        <p:spPr>
          <a:xfrm>
            <a:off x="277625" y="4487906"/>
            <a:ext cx="8668070" cy="457200"/>
          </a:xfrm>
          <a:prstGeom prst="rect">
            <a:avLst/>
          </a:prstGeom>
          <a:solidFill>
            <a:srgbClr val="FFFFFF"/>
          </a:solidFill>
          <a:ln w="12700">
            <a:solidFill>
              <a:srgbClr val="E0E0E0"/>
            </a:solidFill>
            <a:prstDash val="solid"/>
          </a:ln>
          <a:effectLst>
            <a:outerShdw blurRad="127000" dist="38100" dir="8100000" algn="bl" rotWithShape="0">
              <a:srgbClr val="000000">
                <a:alpha val="12000"/>
              </a:srgbClr>
            </a:outerShdw>
          </a:effectLst>
        </p:spPr>
        <p:txBody>
          <a:bodyPr/>
          <a:lstStyle/>
          <a:p>
            <a:endParaRPr lang="it-IT"/>
          </a:p>
        </p:txBody>
      </p:sp>
      <p:sp>
        <p:nvSpPr>
          <p:cNvPr id="47" name="Text 18">
            <a:extLst>
              <a:ext uri="{FF2B5EF4-FFF2-40B4-BE49-F238E27FC236}">
                <a16:creationId xmlns:a16="http://schemas.microsoft.com/office/drawing/2014/main" id="{ABD0A348-C34F-BBD2-9393-FBBD8F54DE89}"/>
              </a:ext>
            </a:extLst>
          </p:cNvPr>
          <p:cNvSpPr/>
          <p:nvPr/>
        </p:nvSpPr>
        <p:spPr>
          <a:xfrm>
            <a:off x="516614" y="4534424"/>
            <a:ext cx="8349760" cy="364163"/>
          </a:xfrm>
          <a:prstGeom prst="rect">
            <a:avLst/>
          </a:prstGeom>
          <a:noFill/>
          <a:ln/>
        </p:spPr>
        <p:txBody>
          <a:bodyPr wrap="square" lIns="0" tIns="0" rIns="0" bIns="0" rtlCol="0" anchor="ctr"/>
          <a:lstStyle/>
          <a:p>
            <a:pPr marL="285750" lvl="0" indent="-285750">
              <a:buClr>
                <a:srgbClr val="E8A020"/>
              </a:buCl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Renamed column headers for clarity:</a:t>
            </a:r>
            <a:r>
              <a:rPr lang="it-IT"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Title → Hotel Name</a:t>
            </a:r>
            <a:r>
              <a:rPr lang="it-IT"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Star → Rating</a:t>
            </a:r>
            <a:r>
              <a:rPr lang="it-IT"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Text → Review</a:t>
            </a:r>
            <a:endParaRPr lang="it-IT"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9607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1A1A2E"/>
        </a:solidFill>
        <a:effectLst/>
      </p:bgPr>
    </p:bg>
    <p:spTree>
      <p:nvGrpSpPr>
        <p:cNvPr id="1" name=""/>
        <p:cNvGrpSpPr/>
        <p:nvPr/>
      </p:nvGrpSpPr>
      <p:grpSpPr>
        <a:xfrm>
          <a:off x="0" y="0"/>
          <a:ext cx="0" cy="0"/>
          <a:chOff x="0" y="0"/>
          <a:chExt cx="0" cy="0"/>
        </a:xfrm>
      </p:grpSpPr>
      <p:pic>
        <p:nvPicPr>
          <p:cNvPr id="49" name="Picture 48">
            <a:extLst>
              <a:ext uri="{FF2B5EF4-FFF2-40B4-BE49-F238E27FC236}">
                <a16:creationId xmlns:a16="http://schemas.microsoft.com/office/drawing/2014/main" id="{75A7308B-631D-6E08-95F2-55AE98FB177E}"/>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0" y="-15827"/>
            <a:ext cx="9144000" cy="5150127"/>
          </a:xfrm>
          <a:prstGeom prst="rect">
            <a:avLst/>
          </a:prstGeom>
          <a:effectLst>
            <a:outerShdw blurRad="50800" dist="50800" dir="5400000" algn="ctr" rotWithShape="0">
              <a:srgbClr val="000000"/>
            </a:outerShdw>
          </a:effectLst>
        </p:spPr>
      </p:pic>
      <p:sp>
        <p:nvSpPr>
          <p:cNvPr id="3" name="Shape 0">
            <a:extLst>
              <a:ext uri="{FF2B5EF4-FFF2-40B4-BE49-F238E27FC236}">
                <a16:creationId xmlns:a16="http://schemas.microsoft.com/office/drawing/2014/main" id="{930C66A4-135F-A25C-3326-7DFCB2F36EB9}"/>
              </a:ext>
            </a:extLst>
          </p:cNvPr>
          <p:cNvSpPr/>
          <p:nvPr/>
        </p:nvSpPr>
        <p:spPr>
          <a:xfrm>
            <a:off x="0" y="0"/>
            <a:ext cx="9144000" cy="771181"/>
          </a:xfrm>
          <a:prstGeom prst="rect">
            <a:avLst/>
          </a:prstGeom>
          <a:solidFill>
            <a:schemeClr val="bg1"/>
          </a:solidFill>
          <a:ln w="12700">
            <a:noFill/>
            <a:prstDash val="solid"/>
          </a:ln>
        </p:spPr>
        <p:txBody>
          <a:bodyPr/>
          <a:lstStyle/>
          <a:p>
            <a:endParaRPr lang="it-IT"/>
          </a:p>
        </p:txBody>
      </p:sp>
      <p:sp>
        <p:nvSpPr>
          <p:cNvPr id="4" name="Text 2">
            <a:extLst>
              <a:ext uri="{FF2B5EF4-FFF2-40B4-BE49-F238E27FC236}">
                <a16:creationId xmlns:a16="http://schemas.microsoft.com/office/drawing/2014/main" id="{2E3DE974-5E7E-64CD-FC3D-03DCE013044B}"/>
              </a:ext>
            </a:extLst>
          </p:cNvPr>
          <p:cNvSpPr/>
          <p:nvPr/>
        </p:nvSpPr>
        <p:spPr>
          <a:xfrm>
            <a:off x="2743199" y="202710"/>
            <a:ext cx="3657600" cy="365760"/>
          </a:xfrm>
          <a:prstGeom prst="rect">
            <a:avLst/>
          </a:prstGeom>
          <a:noFill/>
          <a:ln/>
        </p:spPr>
        <p:txBody>
          <a:bodyPr wrap="square" lIns="0" tIns="0" rIns="0" bIns="0" rtlCol="0" anchor="ctr"/>
          <a:lstStyle/>
          <a:p>
            <a:pPr marL="0" indent="0" algn="ctr">
              <a:buNone/>
            </a:pPr>
            <a:r>
              <a:rPr lang="en-US" b="1" kern="0" spc="200" dirty="0">
                <a:solidFill>
                  <a:srgbClr val="1A1A2E"/>
                </a:solidFill>
                <a:latin typeface="Times New Roman" panose="02020603050405020304" pitchFamily="18" charset="0"/>
                <a:cs typeface="Times New Roman" panose="02020603050405020304" pitchFamily="18" charset="0"/>
              </a:rPr>
              <a:t>FINDINGS AND INSIGHTS</a:t>
            </a:r>
            <a:endParaRPr lang="en-US" dirty="0">
              <a:solidFill>
                <a:srgbClr val="1A1A2E"/>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E1A0A53-776E-B047-086F-E0593BECEC9D}"/>
              </a:ext>
            </a:extLst>
          </p:cNvPr>
          <p:cNvSpPr txBox="1"/>
          <p:nvPr/>
        </p:nvSpPr>
        <p:spPr>
          <a:xfrm>
            <a:off x="110169" y="1288421"/>
            <a:ext cx="4776891" cy="3031599"/>
          </a:xfrm>
          <a:prstGeom prst="rect">
            <a:avLst/>
          </a:prstGeom>
          <a:noFill/>
        </p:spPr>
        <p:txBody>
          <a:bodyPr wrap="square" rtlCol="0">
            <a:spAutoFit/>
          </a:bodyPr>
          <a:lstStyle/>
          <a:p>
            <a:pPr algn="just"/>
            <a:r>
              <a:rPr lang="en-US" sz="1600" b="1" dirty="0">
                <a:solidFill>
                  <a:schemeClr val="bg1"/>
                </a:solidFill>
                <a:latin typeface="Times New Roman" panose="02020603050405020304" pitchFamily="18" charset="0"/>
                <a:cs typeface="Times New Roman" panose="02020603050405020304" pitchFamily="18" charset="0"/>
              </a:rPr>
              <a:t>What is the general level of customer satisfaction in the selected hotels in Abuja?</a:t>
            </a:r>
            <a:endParaRPr lang="it-IT" sz="1600" dirty="0">
              <a:solidFill>
                <a:schemeClr val="bg1"/>
              </a:solidFill>
              <a:latin typeface="Times New Roman" panose="02020603050405020304" pitchFamily="18" charset="0"/>
              <a:cs typeface="Times New Roman" panose="02020603050405020304" pitchFamily="18" charset="0"/>
            </a:endParaRPr>
          </a:p>
          <a:p>
            <a:pPr algn="just"/>
            <a:r>
              <a:rPr lang="en-US" sz="1600" b="1" dirty="0">
                <a:solidFill>
                  <a:schemeClr val="bg1"/>
                </a:solidFill>
                <a:latin typeface="Times New Roman" panose="02020603050405020304" pitchFamily="18" charset="0"/>
                <a:cs typeface="Times New Roman" panose="02020603050405020304" pitchFamily="18" charset="0"/>
              </a:rPr>
              <a:t>Positive</a:t>
            </a:r>
            <a:r>
              <a:rPr lang="en-US" sz="1600" dirty="0">
                <a:solidFill>
                  <a:schemeClr val="bg1"/>
                </a:solidFill>
                <a:latin typeface="Times New Roman" panose="02020603050405020304" pitchFamily="18" charset="0"/>
                <a:cs typeface="Times New Roman" panose="02020603050405020304" pitchFamily="18" charset="0"/>
              </a:rPr>
              <a:t> customer perceptions accounted for 90% of all customer feedback, representing the largest proportion of reviews received across the selected hotels. </a:t>
            </a:r>
            <a:r>
              <a:rPr lang="en-US" sz="1600" b="1" dirty="0">
                <a:solidFill>
                  <a:schemeClr val="bg1"/>
                </a:solidFill>
                <a:latin typeface="Times New Roman" panose="02020603050405020304" pitchFamily="18" charset="0"/>
                <a:cs typeface="Times New Roman" panose="02020603050405020304" pitchFamily="18" charset="0"/>
              </a:rPr>
              <a:t>Neutral perceptions</a:t>
            </a:r>
            <a:r>
              <a:rPr lang="en-US" sz="1600" dirty="0">
                <a:solidFill>
                  <a:schemeClr val="bg1"/>
                </a:solidFill>
                <a:latin typeface="Times New Roman" panose="02020603050405020304" pitchFamily="18" charset="0"/>
                <a:cs typeface="Times New Roman" panose="02020603050405020304" pitchFamily="18" charset="0"/>
              </a:rPr>
              <a:t> accounted for 6%, while only 4% of reviews were classified as </a:t>
            </a:r>
            <a:r>
              <a:rPr lang="en-US" sz="1600" b="1" dirty="0">
                <a:solidFill>
                  <a:schemeClr val="bg1"/>
                </a:solidFill>
                <a:latin typeface="Times New Roman" panose="02020603050405020304" pitchFamily="18" charset="0"/>
                <a:cs typeface="Times New Roman" panose="02020603050405020304" pitchFamily="18" charset="0"/>
              </a:rPr>
              <a:t>Negative</a:t>
            </a:r>
            <a:r>
              <a:rPr lang="en-US" sz="1600" dirty="0">
                <a:solidFill>
                  <a:schemeClr val="bg1"/>
                </a:solidFill>
                <a:latin typeface="Times New Roman" panose="02020603050405020304" pitchFamily="18" charset="0"/>
                <a:cs typeface="Times New Roman" panose="02020603050405020304" pitchFamily="18" charset="0"/>
              </a:rPr>
              <a:t>. Additionally, these findings indicate a generally high level of customer satisfaction and suggest that most guests had favorable experiences with the services provided by the selected hotels in Abuja</a:t>
            </a:r>
            <a:r>
              <a:rPr lang="en-US" sz="1500" dirty="0">
                <a:solidFill>
                  <a:schemeClr val="bg1"/>
                </a:solidFill>
                <a:latin typeface="Times New Roman" panose="02020603050405020304" pitchFamily="18" charset="0"/>
                <a:cs typeface="Times New Roman" panose="02020603050405020304" pitchFamily="18" charset="0"/>
              </a:rPr>
              <a:t>.</a:t>
            </a:r>
            <a:endParaRPr lang="it-IT" sz="1500" dirty="0">
              <a:solidFill>
                <a:schemeClr val="bg1"/>
              </a:solidFill>
              <a:latin typeface="Times New Roman" panose="02020603050405020304" pitchFamily="18" charset="0"/>
              <a:cs typeface="Times New Roman" panose="02020603050405020304" pitchFamily="18" charset="0"/>
            </a:endParaRPr>
          </a:p>
          <a:p>
            <a:endParaRPr lang="it-IT" sz="1500" dirty="0">
              <a:solidFill>
                <a:schemeClr val="bg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3720FBAF-CB0C-0E67-FC2B-9CEFC30B30AC}"/>
              </a:ext>
            </a:extLst>
          </p:cNvPr>
          <p:cNvSpPr/>
          <p:nvPr/>
        </p:nvSpPr>
        <p:spPr>
          <a:xfrm>
            <a:off x="110169" y="944481"/>
            <a:ext cx="3426245" cy="3383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 name="Text 3">
            <a:extLst>
              <a:ext uri="{FF2B5EF4-FFF2-40B4-BE49-F238E27FC236}">
                <a16:creationId xmlns:a16="http://schemas.microsoft.com/office/drawing/2014/main" id="{F8E0FCE4-D538-63B1-7F60-C3D6E7695E33}"/>
              </a:ext>
            </a:extLst>
          </p:cNvPr>
          <p:cNvSpPr/>
          <p:nvPr/>
        </p:nvSpPr>
        <p:spPr>
          <a:xfrm>
            <a:off x="217081" y="944481"/>
            <a:ext cx="3319333" cy="274320"/>
          </a:xfrm>
          <a:prstGeom prst="rect">
            <a:avLst/>
          </a:prstGeom>
          <a:noFill/>
          <a:ln/>
        </p:spPr>
        <p:txBody>
          <a:bodyPr wrap="square" lIns="0" tIns="0" rIns="0" bIns="0" rtlCol="0" anchor="ctr"/>
          <a:lstStyle/>
          <a:p>
            <a:r>
              <a:rPr lang="en-US" sz="1500" b="1" dirty="0">
                <a:latin typeface="Times New Roman" panose="02020603050405020304" pitchFamily="18" charset="0"/>
                <a:cs typeface="Times New Roman" panose="02020603050405020304" pitchFamily="18" charset="0"/>
              </a:rPr>
              <a:t>Insight 1: Customer Satisfaction Level</a:t>
            </a:r>
            <a:endParaRPr lang="it-IT" sz="1500" dirty="0">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0BD8F03-DF13-E18C-C94E-AA940A8590EE}"/>
              </a:ext>
            </a:extLst>
          </p:cNvPr>
          <p:cNvPicPr>
            <a:picLocks noChangeAspect="1"/>
          </p:cNvPicPr>
          <p:nvPr/>
        </p:nvPicPr>
        <p:blipFill>
          <a:blip r:embed="rId4"/>
          <a:stretch>
            <a:fillRect/>
          </a:stretch>
        </p:blipFill>
        <p:spPr>
          <a:xfrm>
            <a:off x="5096382" y="1440600"/>
            <a:ext cx="4036602" cy="262379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a:extLst>
            <a:ext uri="{FF2B5EF4-FFF2-40B4-BE49-F238E27FC236}">
              <a16:creationId xmlns:a16="http://schemas.microsoft.com/office/drawing/2014/main" id="{F6419B91-D576-967F-8E80-D108FFC14479}"/>
            </a:ext>
          </a:extLst>
        </p:cNvPr>
        <p:cNvGrpSpPr/>
        <p:nvPr/>
      </p:nvGrpSpPr>
      <p:grpSpPr>
        <a:xfrm>
          <a:off x="0" y="0"/>
          <a:ext cx="0" cy="0"/>
          <a:chOff x="0" y="0"/>
          <a:chExt cx="0" cy="0"/>
        </a:xfrm>
      </p:grpSpPr>
      <p:pic>
        <p:nvPicPr>
          <p:cNvPr id="49" name="Picture 48">
            <a:extLst>
              <a:ext uri="{FF2B5EF4-FFF2-40B4-BE49-F238E27FC236}">
                <a16:creationId xmlns:a16="http://schemas.microsoft.com/office/drawing/2014/main" id="{F22EF199-1D70-6410-6ADE-C0B4E8FA6E0D}"/>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0" y="-15827"/>
            <a:ext cx="9144000" cy="5150127"/>
          </a:xfrm>
          <a:prstGeom prst="rect">
            <a:avLst/>
          </a:prstGeom>
          <a:effectLst>
            <a:outerShdw blurRad="50800" dist="50800" dir="5400000" algn="ctr" rotWithShape="0">
              <a:srgbClr val="000000"/>
            </a:outerShdw>
          </a:effectLst>
        </p:spPr>
      </p:pic>
      <p:sp>
        <p:nvSpPr>
          <p:cNvPr id="3" name="Shape 0">
            <a:extLst>
              <a:ext uri="{FF2B5EF4-FFF2-40B4-BE49-F238E27FC236}">
                <a16:creationId xmlns:a16="http://schemas.microsoft.com/office/drawing/2014/main" id="{58B72E06-185E-2F10-4EE2-0E26F726F596}"/>
              </a:ext>
            </a:extLst>
          </p:cNvPr>
          <p:cNvSpPr/>
          <p:nvPr/>
        </p:nvSpPr>
        <p:spPr>
          <a:xfrm>
            <a:off x="0" y="0"/>
            <a:ext cx="9144000" cy="771181"/>
          </a:xfrm>
          <a:prstGeom prst="rect">
            <a:avLst/>
          </a:prstGeom>
          <a:solidFill>
            <a:srgbClr val="1A1A2E"/>
          </a:solidFill>
          <a:ln w="12700">
            <a:noFill/>
            <a:prstDash val="solid"/>
          </a:ln>
        </p:spPr>
        <p:txBody>
          <a:bodyPr/>
          <a:lstStyle/>
          <a:p>
            <a:endParaRPr lang="it-IT"/>
          </a:p>
        </p:txBody>
      </p:sp>
      <p:sp>
        <p:nvSpPr>
          <p:cNvPr id="4" name="Text 2">
            <a:extLst>
              <a:ext uri="{FF2B5EF4-FFF2-40B4-BE49-F238E27FC236}">
                <a16:creationId xmlns:a16="http://schemas.microsoft.com/office/drawing/2014/main" id="{065387C4-E009-A554-146C-FE1E346B434C}"/>
              </a:ext>
            </a:extLst>
          </p:cNvPr>
          <p:cNvSpPr/>
          <p:nvPr/>
        </p:nvSpPr>
        <p:spPr>
          <a:xfrm>
            <a:off x="2743199" y="202710"/>
            <a:ext cx="3657600" cy="365760"/>
          </a:xfrm>
          <a:prstGeom prst="rect">
            <a:avLst/>
          </a:prstGeom>
          <a:noFill/>
          <a:ln/>
        </p:spPr>
        <p:txBody>
          <a:bodyPr wrap="square" lIns="0" tIns="0" rIns="0" bIns="0" rtlCol="0" anchor="ctr"/>
          <a:lstStyle/>
          <a:p>
            <a:pPr marL="0" indent="0" algn="ctr">
              <a:buNone/>
            </a:pPr>
            <a:r>
              <a:rPr lang="en-US" b="1" kern="0" spc="200" dirty="0">
                <a:solidFill>
                  <a:schemeClr val="bg1"/>
                </a:solidFill>
                <a:latin typeface="Times New Roman" panose="02020603050405020304" pitchFamily="18" charset="0"/>
                <a:cs typeface="Times New Roman" panose="02020603050405020304" pitchFamily="18" charset="0"/>
              </a:rPr>
              <a:t>FINDINGS AND INSIGHTS</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898B637-E07C-91EE-AAB3-4AF9E52AB8A7}"/>
              </a:ext>
            </a:extLst>
          </p:cNvPr>
          <p:cNvSpPr txBox="1"/>
          <p:nvPr/>
        </p:nvSpPr>
        <p:spPr>
          <a:xfrm>
            <a:off x="110169" y="1288421"/>
            <a:ext cx="8791460" cy="1477328"/>
          </a:xfrm>
          <a:prstGeom prst="rect">
            <a:avLst/>
          </a:prstGeom>
          <a:noFill/>
        </p:spPr>
        <p:txBody>
          <a:bodyPr wrap="square" rtlCol="0">
            <a:spAutoFit/>
          </a:bodyPr>
          <a:lstStyle/>
          <a:p>
            <a:pPr algn="just"/>
            <a:r>
              <a:rPr lang="en-US" sz="1500" b="1" dirty="0">
                <a:solidFill>
                  <a:schemeClr val="bg1"/>
                </a:solidFill>
                <a:latin typeface="Times New Roman" panose="02020603050405020304" pitchFamily="18" charset="0"/>
                <a:cs typeface="Times New Roman" panose="02020603050405020304" pitchFamily="18" charset="0"/>
              </a:rPr>
              <a:t>Service</a:t>
            </a:r>
            <a:r>
              <a:rPr lang="en-US" sz="1500" dirty="0">
                <a:solidFill>
                  <a:schemeClr val="bg1"/>
                </a:solidFill>
                <a:latin typeface="Times New Roman" panose="02020603050405020304" pitchFamily="18" charset="0"/>
                <a:cs typeface="Times New Roman" panose="02020603050405020304" pitchFamily="18" charset="0"/>
              </a:rPr>
              <a:t> received the highest number of customer mentions (586 reviews), making it the most influential factor affecting customer satisfaction. </a:t>
            </a:r>
            <a:r>
              <a:rPr lang="en-US" sz="1500" b="1" dirty="0">
                <a:solidFill>
                  <a:schemeClr val="bg1"/>
                </a:solidFill>
                <a:latin typeface="Times New Roman" panose="02020603050405020304" pitchFamily="18" charset="0"/>
                <a:cs typeface="Times New Roman" panose="02020603050405020304" pitchFamily="18" charset="0"/>
              </a:rPr>
              <a:t>General Feedback</a:t>
            </a:r>
            <a:r>
              <a:rPr lang="en-US" sz="1500" dirty="0">
                <a:solidFill>
                  <a:schemeClr val="bg1"/>
                </a:solidFill>
                <a:latin typeface="Times New Roman" panose="02020603050405020304" pitchFamily="18" charset="0"/>
                <a:cs typeface="Times New Roman" panose="02020603050405020304" pitchFamily="18" charset="0"/>
              </a:rPr>
              <a:t> (326 reviews) and </a:t>
            </a:r>
            <a:r>
              <a:rPr lang="en-US" sz="1500" b="1" dirty="0">
                <a:solidFill>
                  <a:schemeClr val="bg1"/>
                </a:solidFill>
                <a:latin typeface="Times New Roman" panose="02020603050405020304" pitchFamily="18" charset="0"/>
                <a:cs typeface="Times New Roman" panose="02020603050405020304" pitchFamily="18" charset="0"/>
              </a:rPr>
              <a:t>Food</a:t>
            </a:r>
            <a:r>
              <a:rPr lang="en-US" sz="1500" dirty="0">
                <a:solidFill>
                  <a:schemeClr val="bg1"/>
                </a:solidFill>
                <a:latin typeface="Times New Roman" panose="02020603050405020304" pitchFamily="18" charset="0"/>
                <a:cs typeface="Times New Roman" panose="02020603050405020304" pitchFamily="18" charset="0"/>
              </a:rPr>
              <a:t> (123 reviews) were also frequently discussed, highlighting their importance in shaping guest experiences.</a:t>
            </a:r>
            <a:r>
              <a:rPr lang="it-IT" sz="1500" dirty="0">
                <a:solidFill>
                  <a:schemeClr val="bg1"/>
                </a:solidFill>
                <a:latin typeface="Times New Roman" panose="02020603050405020304" pitchFamily="18" charset="0"/>
                <a:cs typeface="Times New Roman" panose="02020603050405020304" pitchFamily="18" charset="0"/>
              </a:rPr>
              <a:t> </a:t>
            </a:r>
            <a:r>
              <a:rPr lang="en-US" sz="1500" b="1" dirty="0">
                <a:solidFill>
                  <a:schemeClr val="bg1"/>
                </a:solidFill>
                <a:latin typeface="Times New Roman" panose="02020603050405020304" pitchFamily="18" charset="0"/>
                <a:cs typeface="Times New Roman" panose="02020603050405020304" pitchFamily="18" charset="0"/>
              </a:rPr>
              <a:t>Room, Facilities, Location, Security, Price,</a:t>
            </a:r>
            <a:r>
              <a:rPr lang="en-US" sz="1500" dirty="0">
                <a:solidFill>
                  <a:schemeClr val="bg1"/>
                </a:solidFill>
                <a:latin typeface="Times New Roman" panose="02020603050405020304" pitchFamily="18" charset="0"/>
                <a:cs typeface="Times New Roman" panose="02020603050405020304" pitchFamily="18" charset="0"/>
              </a:rPr>
              <a:t> and </a:t>
            </a:r>
            <a:r>
              <a:rPr lang="en-US" sz="1500" b="1" dirty="0">
                <a:solidFill>
                  <a:schemeClr val="bg1"/>
                </a:solidFill>
                <a:latin typeface="Times New Roman" panose="02020603050405020304" pitchFamily="18" charset="0"/>
                <a:cs typeface="Times New Roman" panose="02020603050405020304" pitchFamily="18" charset="0"/>
              </a:rPr>
              <a:t>Cleanliness</a:t>
            </a:r>
            <a:r>
              <a:rPr lang="en-US" sz="1500" dirty="0">
                <a:solidFill>
                  <a:schemeClr val="bg1"/>
                </a:solidFill>
                <a:latin typeface="Times New Roman" panose="02020603050405020304" pitchFamily="18" charset="0"/>
                <a:cs typeface="Times New Roman" panose="02020603050405020304" pitchFamily="18" charset="0"/>
              </a:rPr>
              <a:t> received fewer reviews, suggesting that customers were less likely to comment on these areas. Overall, the findings indicate that delivering excellent service and maintaining high-quality food offerings are key drivers of customer satisfaction and positive hotel reviews.</a:t>
            </a:r>
            <a:endParaRPr lang="it-IT" sz="1500" dirty="0">
              <a:solidFill>
                <a:schemeClr val="bg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16567BBA-85E3-6DF7-A272-BB7E09B64B8B}"/>
              </a:ext>
            </a:extLst>
          </p:cNvPr>
          <p:cNvSpPr/>
          <p:nvPr/>
        </p:nvSpPr>
        <p:spPr>
          <a:xfrm>
            <a:off x="110169" y="944481"/>
            <a:ext cx="4682168" cy="3383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 name="Text 3">
            <a:extLst>
              <a:ext uri="{FF2B5EF4-FFF2-40B4-BE49-F238E27FC236}">
                <a16:creationId xmlns:a16="http://schemas.microsoft.com/office/drawing/2014/main" id="{464838DB-99A7-BB5F-020F-652820169D9D}"/>
              </a:ext>
            </a:extLst>
          </p:cNvPr>
          <p:cNvSpPr/>
          <p:nvPr/>
        </p:nvSpPr>
        <p:spPr>
          <a:xfrm>
            <a:off x="217081" y="944481"/>
            <a:ext cx="4575256" cy="274320"/>
          </a:xfrm>
          <a:prstGeom prst="rect">
            <a:avLst/>
          </a:prstGeom>
          <a:noFill/>
          <a:ln/>
        </p:spPr>
        <p:txBody>
          <a:bodyPr wrap="square" lIns="0" tIns="0" rIns="0" bIns="0" rtlCol="0" anchor="ctr"/>
          <a:lstStyle/>
          <a:p>
            <a:r>
              <a:rPr lang="en-US" sz="1400" b="1" dirty="0">
                <a:latin typeface="Times New Roman" panose="02020603050405020304" pitchFamily="18" charset="0"/>
                <a:cs typeface="Times New Roman" panose="02020603050405020304" pitchFamily="18" charset="0"/>
              </a:rPr>
              <a:t>Insight 2: Major Factors Influencing Customer Satisfaction</a:t>
            </a:r>
            <a:endParaRPr lang="it-IT" sz="1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A2FD9D2-A37F-59C2-5735-82F94DB0E22B}"/>
              </a:ext>
            </a:extLst>
          </p:cNvPr>
          <p:cNvPicPr>
            <a:picLocks noChangeAspect="1"/>
          </p:cNvPicPr>
          <p:nvPr/>
        </p:nvPicPr>
        <p:blipFill>
          <a:blip r:embed="rId4"/>
          <a:stretch>
            <a:fillRect/>
          </a:stretch>
        </p:blipFill>
        <p:spPr>
          <a:xfrm>
            <a:off x="1669055" y="2765749"/>
            <a:ext cx="5673687" cy="2350412"/>
          </a:xfrm>
          <a:prstGeom prst="rect">
            <a:avLst/>
          </a:prstGeom>
        </p:spPr>
      </p:pic>
    </p:spTree>
    <p:extLst>
      <p:ext uri="{BB962C8B-B14F-4D97-AF65-F5344CB8AC3E}">
        <p14:creationId xmlns:p14="http://schemas.microsoft.com/office/powerpoint/2010/main" val="17852203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a:extLst>
            <a:ext uri="{FF2B5EF4-FFF2-40B4-BE49-F238E27FC236}">
              <a16:creationId xmlns:a16="http://schemas.microsoft.com/office/drawing/2014/main" id="{4BD2A83C-7336-C112-E308-7A6A8FDD1DA2}"/>
            </a:ext>
          </a:extLst>
        </p:cNvPr>
        <p:cNvGrpSpPr/>
        <p:nvPr/>
      </p:nvGrpSpPr>
      <p:grpSpPr>
        <a:xfrm>
          <a:off x="0" y="0"/>
          <a:ext cx="0" cy="0"/>
          <a:chOff x="0" y="0"/>
          <a:chExt cx="0" cy="0"/>
        </a:xfrm>
      </p:grpSpPr>
      <p:pic>
        <p:nvPicPr>
          <p:cNvPr id="49" name="Picture 48">
            <a:extLst>
              <a:ext uri="{FF2B5EF4-FFF2-40B4-BE49-F238E27FC236}">
                <a16:creationId xmlns:a16="http://schemas.microsoft.com/office/drawing/2014/main" id="{0FB3521A-DEF3-5C15-DE1C-9A5495D15305}"/>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0" y="-15827"/>
            <a:ext cx="9144000" cy="5150127"/>
          </a:xfrm>
          <a:prstGeom prst="rect">
            <a:avLst/>
          </a:prstGeom>
          <a:effectLst>
            <a:outerShdw blurRad="50800" dist="50800" dir="5400000" algn="ctr" rotWithShape="0">
              <a:srgbClr val="000000"/>
            </a:outerShdw>
          </a:effectLst>
        </p:spPr>
      </p:pic>
      <p:sp>
        <p:nvSpPr>
          <p:cNvPr id="3" name="Shape 0">
            <a:extLst>
              <a:ext uri="{FF2B5EF4-FFF2-40B4-BE49-F238E27FC236}">
                <a16:creationId xmlns:a16="http://schemas.microsoft.com/office/drawing/2014/main" id="{9A65D84B-4B29-26B0-6798-5B20CC31D78E}"/>
              </a:ext>
            </a:extLst>
          </p:cNvPr>
          <p:cNvSpPr/>
          <p:nvPr/>
        </p:nvSpPr>
        <p:spPr>
          <a:xfrm>
            <a:off x="0" y="0"/>
            <a:ext cx="9144000" cy="771181"/>
          </a:xfrm>
          <a:prstGeom prst="rect">
            <a:avLst/>
          </a:prstGeom>
          <a:solidFill>
            <a:schemeClr val="bg1"/>
          </a:solidFill>
          <a:ln w="12700">
            <a:noFill/>
            <a:prstDash val="solid"/>
          </a:ln>
        </p:spPr>
        <p:txBody>
          <a:bodyPr/>
          <a:lstStyle/>
          <a:p>
            <a:endParaRPr lang="it-IT"/>
          </a:p>
        </p:txBody>
      </p:sp>
      <p:sp>
        <p:nvSpPr>
          <p:cNvPr id="4" name="Text 2">
            <a:extLst>
              <a:ext uri="{FF2B5EF4-FFF2-40B4-BE49-F238E27FC236}">
                <a16:creationId xmlns:a16="http://schemas.microsoft.com/office/drawing/2014/main" id="{C85FBF9F-740F-797A-DA43-A6880306F676}"/>
              </a:ext>
            </a:extLst>
          </p:cNvPr>
          <p:cNvSpPr/>
          <p:nvPr/>
        </p:nvSpPr>
        <p:spPr>
          <a:xfrm>
            <a:off x="2743199" y="202710"/>
            <a:ext cx="3657600" cy="365760"/>
          </a:xfrm>
          <a:prstGeom prst="rect">
            <a:avLst/>
          </a:prstGeom>
          <a:noFill/>
          <a:ln/>
        </p:spPr>
        <p:txBody>
          <a:bodyPr wrap="square" lIns="0" tIns="0" rIns="0" bIns="0" rtlCol="0" anchor="ctr"/>
          <a:lstStyle/>
          <a:p>
            <a:pPr marL="0" indent="0" algn="ctr">
              <a:buNone/>
            </a:pPr>
            <a:r>
              <a:rPr lang="en-US" b="1" kern="0" spc="200" dirty="0">
                <a:solidFill>
                  <a:srgbClr val="1A1A2E"/>
                </a:solidFill>
                <a:latin typeface="Times New Roman" panose="02020603050405020304" pitchFamily="18" charset="0"/>
                <a:cs typeface="Times New Roman" panose="02020603050405020304" pitchFamily="18" charset="0"/>
              </a:rPr>
              <a:t>FINDINGS AND INSIGHTS</a:t>
            </a:r>
            <a:endParaRPr lang="en-US" dirty="0">
              <a:solidFill>
                <a:srgbClr val="1A1A2E"/>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A3DAEBA-EA62-2C37-F7FF-B2BB0953BB35}"/>
              </a:ext>
            </a:extLst>
          </p:cNvPr>
          <p:cNvSpPr txBox="1"/>
          <p:nvPr/>
        </p:nvSpPr>
        <p:spPr>
          <a:xfrm>
            <a:off x="110169" y="1288421"/>
            <a:ext cx="8791460" cy="1477328"/>
          </a:xfrm>
          <a:prstGeom prst="rect">
            <a:avLst/>
          </a:prstGeom>
          <a:noFill/>
        </p:spPr>
        <p:txBody>
          <a:bodyPr wrap="square" rtlCol="0">
            <a:spAutoFit/>
          </a:bodyPr>
          <a:lstStyle/>
          <a:p>
            <a:pPr algn="just"/>
            <a:r>
              <a:rPr lang="en-US" sz="1500" b="1" dirty="0">
                <a:solidFill>
                  <a:schemeClr val="bg1"/>
                </a:solidFill>
                <a:latin typeface="Times New Roman" panose="02020603050405020304" pitchFamily="18" charset="0"/>
                <a:cs typeface="Times New Roman" panose="02020603050405020304" pitchFamily="18" charset="0"/>
              </a:rPr>
              <a:t>How do the selected hotels perform when compared in terms of service quality?</a:t>
            </a:r>
            <a:endParaRPr lang="it-IT" sz="1500" dirty="0">
              <a:solidFill>
                <a:schemeClr val="bg1"/>
              </a:solidFill>
              <a:latin typeface="Times New Roman" panose="02020603050405020304" pitchFamily="18" charset="0"/>
              <a:cs typeface="Times New Roman" panose="02020603050405020304" pitchFamily="18" charset="0"/>
            </a:endParaRPr>
          </a:p>
          <a:p>
            <a:pPr algn="just"/>
            <a:r>
              <a:rPr lang="en-US" sz="1500" dirty="0">
                <a:solidFill>
                  <a:schemeClr val="bg1"/>
                </a:solidFill>
                <a:latin typeface="Times New Roman" panose="02020603050405020304" pitchFamily="18" charset="0"/>
                <a:cs typeface="Times New Roman" panose="02020603050405020304" pitchFamily="18" charset="0"/>
              </a:rPr>
              <a:t>The comparison shows that all selected hotels received a high number of </a:t>
            </a:r>
            <a:r>
              <a:rPr lang="en-US" sz="1500" b="1" dirty="0">
                <a:solidFill>
                  <a:schemeClr val="bg1"/>
                </a:solidFill>
                <a:latin typeface="Times New Roman" panose="02020603050405020304" pitchFamily="18" charset="0"/>
                <a:cs typeface="Times New Roman" panose="02020603050405020304" pitchFamily="18" charset="0"/>
              </a:rPr>
              <a:t>Excellent ratings</a:t>
            </a:r>
            <a:r>
              <a:rPr lang="en-US" sz="1500" dirty="0">
                <a:solidFill>
                  <a:schemeClr val="bg1"/>
                </a:solidFill>
                <a:latin typeface="Times New Roman" panose="02020603050405020304" pitchFamily="18" charset="0"/>
                <a:cs typeface="Times New Roman" panose="02020603050405020304" pitchFamily="18" charset="0"/>
              </a:rPr>
              <a:t>, indicating generally strong service quality and customer satisfaction across the hotels. </a:t>
            </a:r>
            <a:r>
              <a:rPr lang="en-US" sz="1500" b="1" dirty="0">
                <a:solidFill>
                  <a:schemeClr val="bg1"/>
                </a:solidFill>
                <a:latin typeface="Times New Roman" panose="02020603050405020304" pitchFamily="18" charset="0"/>
                <a:cs typeface="Times New Roman" panose="02020603050405020304" pitchFamily="18" charset="0"/>
              </a:rPr>
              <a:t>Good ratings</a:t>
            </a:r>
            <a:r>
              <a:rPr lang="en-US" sz="1500" dirty="0">
                <a:solidFill>
                  <a:schemeClr val="bg1"/>
                </a:solidFill>
                <a:latin typeface="Times New Roman" panose="02020603050405020304" pitchFamily="18" charset="0"/>
                <a:cs typeface="Times New Roman" panose="02020603050405020304" pitchFamily="18" charset="0"/>
              </a:rPr>
              <a:t> were the second most common category, while </a:t>
            </a:r>
            <a:r>
              <a:rPr lang="en-US" sz="1500" b="1" dirty="0">
                <a:solidFill>
                  <a:schemeClr val="bg1"/>
                </a:solidFill>
                <a:latin typeface="Times New Roman" panose="02020603050405020304" pitchFamily="18" charset="0"/>
                <a:cs typeface="Times New Roman" panose="02020603050405020304" pitchFamily="18" charset="0"/>
              </a:rPr>
              <a:t>Poor</a:t>
            </a:r>
            <a:r>
              <a:rPr lang="en-US" sz="1500" dirty="0">
                <a:solidFill>
                  <a:schemeClr val="bg1"/>
                </a:solidFill>
                <a:latin typeface="Times New Roman" panose="02020603050405020304" pitchFamily="18" charset="0"/>
                <a:cs typeface="Times New Roman" panose="02020603050405020304" pitchFamily="18" charset="0"/>
              </a:rPr>
              <a:t> and </a:t>
            </a:r>
            <a:r>
              <a:rPr lang="en-US" sz="1500" b="1" dirty="0">
                <a:solidFill>
                  <a:schemeClr val="bg1"/>
                </a:solidFill>
                <a:latin typeface="Times New Roman" panose="02020603050405020304" pitchFamily="18" charset="0"/>
                <a:cs typeface="Times New Roman" panose="02020603050405020304" pitchFamily="18" charset="0"/>
              </a:rPr>
              <a:t>Fair ratings</a:t>
            </a:r>
            <a:r>
              <a:rPr lang="en-US" sz="1500" dirty="0">
                <a:solidFill>
                  <a:schemeClr val="bg1"/>
                </a:solidFill>
                <a:latin typeface="Times New Roman" panose="02020603050405020304" pitchFamily="18" charset="0"/>
                <a:cs typeface="Times New Roman" panose="02020603050405020304" pitchFamily="18" charset="0"/>
              </a:rPr>
              <a:t> were relatively low, suggesting limited negative customer experiences. Overall, the results indicate that the selected hotels maintain positive service standards, with only minor variations in performance among them.</a:t>
            </a:r>
            <a:endParaRPr lang="it-IT" sz="1500" dirty="0">
              <a:solidFill>
                <a:schemeClr val="bg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EC597199-3077-DCB2-4A21-3A06AA6A476A}"/>
              </a:ext>
            </a:extLst>
          </p:cNvPr>
          <p:cNvSpPr/>
          <p:nvPr/>
        </p:nvSpPr>
        <p:spPr>
          <a:xfrm>
            <a:off x="110169" y="944481"/>
            <a:ext cx="3437262" cy="3383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 name="Text 3">
            <a:extLst>
              <a:ext uri="{FF2B5EF4-FFF2-40B4-BE49-F238E27FC236}">
                <a16:creationId xmlns:a16="http://schemas.microsoft.com/office/drawing/2014/main" id="{84E13F3B-9E6F-46F7-A681-86128BED11D7}"/>
              </a:ext>
            </a:extLst>
          </p:cNvPr>
          <p:cNvSpPr/>
          <p:nvPr/>
        </p:nvSpPr>
        <p:spPr>
          <a:xfrm>
            <a:off x="217081" y="944481"/>
            <a:ext cx="4575256" cy="274320"/>
          </a:xfrm>
          <a:prstGeom prst="rect">
            <a:avLst/>
          </a:prstGeom>
          <a:noFill/>
          <a:ln/>
        </p:spPr>
        <p:txBody>
          <a:bodyPr wrap="square" lIns="0" tIns="0" rIns="0" bIns="0" rtlCol="0" anchor="ctr"/>
          <a:lstStyle/>
          <a:p>
            <a:r>
              <a:rPr lang="en-US" sz="1400" b="1" dirty="0">
                <a:latin typeface="Times New Roman" panose="02020603050405020304" pitchFamily="18" charset="0"/>
                <a:cs typeface="Times New Roman" panose="02020603050405020304" pitchFamily="18" charset="0"/>
              </a:rPr>
              <a:t>Insight 3: Hotel Performance Comparison</a:t>
            </a:r>
            <a:endParaRPr lang="it-IT" sz="14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6819A311-5C12-72ED-AF9C-57250ABC617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745734" y="2625141"/>
            <a:ext cx="5067760" cy="2462290"/>
          </a:xfrm>
          <a:prstGeom prst="rect">
            <a:avLst/>
          </a:prstGeom>
          <a:noFill/>
        </p:spPr>
      </p:pic>
    </p:spTree>
    <p:extLst>
      <p:ext uri="{BB962C8B-B14F-4D97-AF65-F5344CB8AC3E}">
        <p14:creationId xmlns:p14="http://schemas.microsoft.com/office/powerpoint/2010/main" val="20133886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a:extLst>
            <a:ext uri="{FF2B5EF4-FFF2-40B4-BE49-F238E27FC236}">
              <a16:creationId xmlns:a16="http://schemas.microsoft.com/office/drawing/2014/main" id="{30DF3B41-298D-5A2E-5757-454F645B5E1D}"/>
            </a:ext>
          </a:extLst>
        </p:cNvPr>
        <p:cNvGrpSpPr/>
        <p:nvPr/>
      </p:nvGrpSpPr>
      <p:grpSpPr>
        <a:xfrm>
          <a:off x="0" y="0"/>
          <a:ext cx="0" cy="0"/>
          <a:chOff x="0" y="0"/>
          <a:chExt cx="0" cy="0"/>
        </a:xfrm>
      </p:grpSpPr>
      <p:pic>
        <p:nvPicPr>
          <p:cNvPr id="49" name="Picture 48">
            <a:extLst>
              <a:ext uri="{FF2B5EF4-FFF2-40B4-BE49-F238E27FC236}">
                <a16:creationId xmlns:a16="http://schemas.microsoft.com/office/drawing/2014/main" id="{9DD4D951-F084-1611-6F56-C6C362F47F38}"/>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0" y="-15827"/>
            <a:ext cx="9144000" cy="5150127"/>
          </a:xfrm>
          <a:prstGeom prst="rect">
            <a:avLst/>
          </a:prstGeom>
          <a:effectLst>
            <a:outerShdw blurRad="50800" dist="50800" dir="5400000" algn="ctr" rotWithShape="0">
              <a:srgbClr val="000000"/>
            </a:outerShdw>
          </a:effectLst>
        </p:spPr>
      </p:pic>
      <p:sp>
        <p:nvSpPr>
          <p:cNvPr id="3" name="Shape 0">
            <a:extLst>
              <a:ext uri="{FF2B5EF4-FFF2-40B4-BE49-F238E27FC236}">
                <a16:creationId xmlns:a16="http://schemas.microsoft.com/office/drawing/2014/main" id="{5727CD5C-2450-B0A8-E265-D3CE557750AF}"/>
              </a:ext>
            </a:extLst>
          </p:cNvPr>
          <p:cNvSpPr/>
          <p:nvPr/>
        </p:nvSpPr>
        <p:spPr>
          <a:xfrm>
            <a:off x="0" y="0"/>
            <a:ext cx="9144000" cy="771181"/>
          </a:xfrm>
          <a:prstGeom prst="rect">
            <a:avLst/>
          </a:prstGeom>
          <a:solidFill>
            <a:srgbClr val="1A1A2E"/>
          </a:solidFill>
          <a:ln w="12700">
            <a:noFill/>
            <a:prstDash val="solid"/>
          </a:ln>
        </p:spPr>
        <p:txBody>
          <a:bodyPr/>
          <a:lstStyle/>
          <a:p>
            <a:endParaRPr lang="it-IT"/>
          </a:p>
        </p:txBody>
      </p:sp>
      <p:sp>
        <p:nvSpPr>
          <p:cNvPr id="4" name="Text 2">
            <a:extLst>
              <a:ext uri="{FF2B5EF4-FFF2-40B4-BE49-F238E27FC236}">
                <a16:creationId xmlns:a16="http://schemas.microsoft.com/office/drawing/2014/main" id="{2D7F9513-0F8F-285F-00A4-F53377C662C5}"/>
              </a:ext>
            </a:extLst>
          </p:cNvPr>
          <p:cNvSpPr/>
          <p:nvPr/>
        </p:nvSpPr>
        <p:spPr>
          <a:xfrm>
            <a:off x="2743199" y="202710"/>
            <a:ext cx="3657600" cy="365760"/>
          </a:xfrm>
          <a:prstGeom prst="rect">
            <a:avLst/>
          </a:prstGeom>
          <a:noFill/>
          <a:ln/>
        </p:spPr>
        <p:txBody>
          <a:bodyPr wrap="square" lIns="0" tIns="0" rIns="0" bIns="0" rtlCol="0" anchor="ctr"/>
          <a:lstStyle/>
          <a:p>
            <a:pPr marL="0" indent="0" algn="ctr">
              <a:buNone/>
            </a:pPr>
            <a:r>
              <a:rPr lang="en-US" b="1" kern="0" spc="200" dirty="0">
                <a:solidFill>
                  <a:schemeClr val="bg1"/>
                </a:solidFill>
                <a:latin typeface="Times New Roman" panose="02020603050405020304" pitchFamily="18" charset="0"/>
                <a:cs typeface="Times New Roman" panose="02020603050405020304" pitchFamily="18" charset="0"/>
              </a:rPr>
              <a:t>FINDINGS AND INSIGHTS</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0F882E1-EF40-7FF9-66CF-7DBEC4484DBF}"/>
              </a:ext>
            </a:extLst>
          </p:cNvPr>
          <p:cNvSpPr txBox="1"/>
          <p:nvPr/>
        </p:nvSpPr>
        <p:spPr>
          <a:xfrm>
            <a:off x="110169" y="1288421"/>
            <a:ext cx="8791460" cy="1477328"/>
          </a:xfrm>
          <a:prstGeom prst="rect">
            <a:avLst/>
          </a:prstGeom>
          <a:noFill/>
        </p:spPr>
        <p:txBody>
          <a:bodyPr wrap="square" rtlCol="0">
            <a:spAutoFit/>
          </a:bodyPr>
          <a:lstStyle/>
          <a:p>
            <a:pPr algn="just"/>
            <a:r>
              <a:rPr lang="en-US" sz="1500" b="1" dirty="0">
                <a:solidFill>
                  <a:schemeClr val="bg1"/>
                </a:solidFill>
                <a:latin typeface="Times New Roman" panose="02020603050405020304" pitchFamily="18" charset="0"/>
                <a:cs typeface="Times New Roman" panose="02020603050405020304" pitchFamily="18" charset="0"/>
              </a:rPr>
              <a:t>How does service quality affect hotel ratings?</a:t>
            </a:r>
            <a:endParaRPr lang="it-IT" sz="1500" dirty="0">
              <a:solidFill>
                <a:schemeClr val="bg1"/>
              </a:solidFill>
              <a:latin typeface="Times New Roman" panose="02020603050405020304" pitchFamily="18" charset="0"/>
              <a:cs typeface="Times New Roman" panose="02020603050405020304" pitchFamily="18" charset="0"/>
            </a:endParaRPr>
          </a:p>
          <a:p>
            <a:pPr algn="just"/>
            <a:r>
              <a:rPr lang="en-US" sz="1500" b="1" dirty="0">
                <a:solidFill>
                  <a:schemeClr val="bg1"/>
                </a:solidFill>
                <a:latin typeface="Times New Roman" panose="02020603050405020304" pitchFamily="18" charset="0"/>
                <a:cs typeface="Times New Roman" panose="02020603050405020304" pitchFamily="18" charset="0"/>
              </a:rPr>
              <a:t>Service</a:t>
            </a:r>
            <a:r>
              <a:rPr lang="en-US" sz="1500" dirty="0">
                <a:solidFill>
                  <a:schemeClr val="bg1"/>
                </a:solidFill>
                <a:latin typeface="Times New Roman" panose="02020603050405020304" pitchFamily="18" charset="0"/>
                <a:cs typeface="Times New Roman" panose="02020603050405020304" pitchFamily="18" charset="0"/>
              </a:rPr>
              <a:t> and </a:t>
            </a:r>
            <a:r>
              <a:rPr lang="en-US" sz="1500" b="1" dirty="0">
                <a:solidFill>
                  <a:schemeClr val="bg1"/>
                </a:solidFill>
                <a:latin typeface="Times New Roman" panose="02020603050405020304" pitchFamily="18" charset="0"/>
                <a:cs typeface="Times New Roman" panose="02020603050405020304" pitchFamily="18" charset="0"/>
              </a:rPr>
              <a:t>Food</a:t>
            </a:r>
            <a:r>
              <a:rPr lang="en-US" sz="1500" dirty="0">
                <a:solidFill>
                  <a:schemeClr val="bg1"/>
                </a:solidFill>
                <a:latin typeface="Times New Roman" panose="02020603050405020304" pitchFamily="18" charset="0"/>
                <a:cs typeface="Times New Roman" panose="02020603050405020304" pitchFamily="18" charset="0"/>
              </a:rPr>
              <a:t> emerged as the highest-rated service quality factors, with average ratings of 4.78 and 4.76 respectively. </a:t>
            </a:r>
            <a:r>
              <a:rPr lang="en-US" sz="1500" b="1" dirty="0">
                <a:solidFill>
                  <a:schemeClr val="bg1"/>
                </a:solidFill>
                <a:latin typeface="Times New Roman" panose="02020603050405020304" pitchFamily="18" charset="0"/>
                <a:cs typeface="Times New Roman" panose="02020603050405020304" pitchFamily="18" charset="0"/>
              </a:rPr>
              <a:t>Facilities</a:t>
            </a:r>
            <a:r>
              <a:rPr lang="en-US" sz="1500" dirty="0">
                <a:solidFill>
                  <a:schemeClr val="bg1"/>
                </a:solidFill>
                <a:latin typeface="Times New Roman" panose="02020603050405020304" pitchFamily="18" charset="0"/>
                <a:cs typeface="Times New Roman" panose="02020603050405020304" pitchFamily="18" charset="0"/>
              </a:rPr>
              <a:t> (4.09), </a:t>
            </a:r>
            <a:r>
              <a:rPr lang="en-US" sz="1500" b="1" dirty="0">
                <a:solidFill>
                  <a:schemeClr val="bg1"/>
                </a:solidFill>
                <a:latin typeface="Times New Roman" panose="02020603050405020304" pitchFamily="18" charset="0"/>
                <a:cs typeface="Times New Roman" panose="02020603050405020304" pitchFamily="18" charset="0"/>
              </a:rPr>
              <a:t>Location</a:t>
            </a:r>
            <a:r>
              <a:rPr lang="en-US" sz="1500" dirty="0">
                <a:solidFill>
                  <a:schemeClr val="bg1"/>
                </a:solidFill>
                <a:latin typeface="Times New Roman" panose="02020603050405020304" pitchFamily="18" charset="0"/>
                <a:cs typeface="Times New Roman" panose="02020603050405020304" pitchFamily="18" charset="0"/>
              </a:rPr>
              <a:t> (4.15), </a:t>
            </a:r>
            <a:r>
              <a:rPr lang="en-US" sz="1500" b="1" dirty="0">
                <a:solidFill>
                  <a:schemeClr val="bg1"/>
                </a:solidFill>
                <a:latin typeface="Times New Roman" panose="02020603050405020304" pitchFamily="18" charset="0"/>
                <a:cs typeface="Times New Roman" panose="02020603050405020304" pitchFamily="18" charset="0"/>
              </a:rPr>
              <a:t>Security </a:t>
            </a:r>
            <a:r>
              <a:rPr lang="en-US" sz="1500" dirty="0">
                <a:solidFill>
                  <a:schemeClr val="bg1"/>
                </a:solidFill>
                <a:latin typeface="Times New Roman" panose="02020603050405020304" pitchFamily="18" charset="0"/>
                <a:cs typeface="Times New Roman" panose="02020603050405020304" pitchFamily="18" charset="0"/>
              </a:rPr>
              <a:t>(4.18), and </a:t>
            </a:r>
            <a:r>
              <a:rPr lang="en-US" sz="1500" b="1" dirty="0">
                <a:solidFill>
                  <a:schemeClr val="bg1"/>
                </a:solidFill>
                <a:latin typeface="Times New Roman" panose="02020603050405020304" pitchFamily="18" charset="0"/>
                <a:cs typeface="Times New Roman" panose="02020603050405020304" pitchFamily="18" charset="0"/>
              </a:rPr>
              <a:t>Room Quality</a:t>
            </a:r>
            <a:r>
              <a:rPr lang="en-US" sz="1500" dirty="0">
                <a:solidFill>
                  <a:schemeClr val="bg1"/>
                </a:solidFill>
                <a:latin typeface="Times New Roman" panose="02020603050405020304" pitchFamily="18" charset="0"/>
                <a:cs typeface="Times New Roman" panose="02020603050405020304" pitchFamily="18" charset="0"/>
              </a:rPr>
              <a:t> (4.24) recorded comparatively lower average ratings highlighting areas for improvement. This suggests that customers generally perceive hotel service quality positively, although improvements in these lower-rated areas may further enhance overall customer satisfaction hotel ratings, and competitiveness.</a:t>
            </a:r>
            <a:endParaRPr lang="it-IT" sz="1500" dirty="0">
              <a:solidFill>
                <a:schemeClr val="bg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7B32E392-8E40-D925-1F48-544FE854C13F}"/>
              </a:ext>
            </a:extLst>
          </p:cNvPr>
          <p:cNvSpPr/>
          <p:nvPr/>
        </p:nvSpPr>
        <p:spPr>
          <a:xfrm>
            <a:off x="110168" y="944481"/>
            <a:ext cx="5288097" cy="3383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 name="Text 3">
            <a:extLst>
              <a:ext uri="{FF2B5EF4-FFF2-40B4-BE49-F238E27FC236}">
                <a16:creationId xmlns:a16="http://schemas.microsoft.com/office/drawing/2014/main" id="{044B0C08-F3A9-B149-0603-B0A76278A055}"/>
              </a:ext>
            </a:extLst>
          </p:cNvPr>
          <p:cNvSpPr/>
          <p:nvPr/>
        </p:nvSpPr>
        <p:spPr>
          <a:xfrm>
            <a:off x="217081" y="944481"/>
            <a:ext cx="5181184" cy="274320"/>
          </a:xfrm>
          <a:prstGeom prst="rect">
            <a:avLst/>
          </a:prstGeom>
          <a:noFill/>
          <a:ln/>
        </p:spPr>
        <p:txBody>
          <a:bodyPr wrap="square" lIns="0" tIns="0" rIns="0" bIns="0" rtlCol="0" anchor="ctr"/>
          <a:lstStyle/>
          <a:p>
            <a:r>
              <a:rPr lang="en-US" sz="1400" b="1" dirty="0">
                <a:latin typeface="Times New Roman" panose="02020603050405020304" pitchFamily="18" charset="0"/>
                <a:cs typeface="Times New Roman" panose="02020603050405020304" pitchFamily="18" charset="0"/>
              </a:rPr>
              <a:t>Insight 4: Relationship Between Service Quality and Hotel Ratings</a:t>
            </a:r>
            <a:endParaRPr lang="it-IT" sz="1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0FC37E2D-9B33-B36F-FBD4-FB7536B8745A}"/>
              </a:ext>
            </a:extLst>
          </p:cNvPr>
          <p:cNvPicPr>
            <a:picLocks noChangeAspect="1"/>
          </p:cNvPicPr>
          <p:nvPr/>
        </p:nvPicPr>
        <p:blipFill>
          <a:blip r:embed="rId4"/>
          <a:stretch>
            <a:fillRect/>
          </a:stretch>
        </p:blipFill>
        <p:spPr>
          <a:xfrm>
            <a:off x="1266940" y="2765748"/>
            <a:ext cx="6477918" cy="2304637"/>
          </a:xfrm>
          <a:prstGeom prst="rect">
            <a:avLst/>
          </a:prstGeom>
        </p:spPr>
      </p:pic>
    </p:spTree>
    <p:extLst>
      <p:ext uri="{BB962C8B-B14F-4D97-AF65-F5344CB8AC3E}">
        <p14:creationId xmlns:p14="http://schemas.microsoft.com/office/powerpoint/2010/main" val="304975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a:extLst>
            <a:ext uri="{FF2B5EF4-FFF2-40B4-BE49-F238E27FC236}">
              <a16:creationId xmlns:a16="http://schemas.microsoft.com/office/drawing/2014/main" id="{A5C0F54A-82C0-A7AA-B996-122FD4A1C62A}"/>
            </a:ext>
          </a:extLst>
        </p:cNvPr>
        <p:cNvGrpSpPr/>
        <p:nvPr/>
      </p:nvGrpSpPr>
      <p:grpSpPr>
        <a:xfrm>
          <a:off x="0" y="0"/>
          <a:ext cx="0" cy="0"/>
          <a:chOff x="0" y="0"/>
          <a:chExt cx="0" cy="0"/>
        </a:xfrm>
      </p:grpSpPr>
      <p:pic>
        <p:nvPicPr>
          <p:cNvPr id="40" name="Picture 39">
            <a:extLst>
              <a:ext uri="{FF2B5EF4-FFF2-40B4-BE49-F238E27FC236}">
                <a16:creationId xmlns:a16="http://schemas.microsoft.com/office/drawing/2014/main" id="{C41E5E9F-6597-DB06-D2B7-DA191394AC8B}"/>
              </a:ext>
            </a:extLst>
          </p:cNvPr>
          <p:cNvPicPr>
            <a:picLocks noGrp="1" noRot="1" noChangeAspect="1" noMove="1" noResize="1" noEditPoints="1" noAdjustHandles="1" noChangeArrowheads="1" noChangeShapeType="1" noCrop="1"/>
          </p:cNvPicPr>
          <p:nvPr/>
        </p:nvPicPr>
        <p:blipFill>
          <a:blip r:embed="rId3">
            <a:alphaModFix amt="10000"/>
          </a:blip>
          <a:stretch>
            <a:fillRect/>
          </a:stretch>
        </p:blipFill>
        <p:spPr>
          <a:xfrm>
            <a:off x="4060" y="0"/>
            <a:ext cx="9135879" cy="5143500"/>
          </a:xfrm>
          <a:prstGeom prst="rect">
            <a:avLst/>
          </a:prstGeom>
        </p:spPr>
      </p:pic>
      <p:sp>
        <p:nvSpPr>
          <p:cNvPr id="2" name="Shape 0">
            <a:extLst>
              <a:ext uri="{FF2B5EF4-FFF2-40B4-BE49-F238E27FC236}">
                <a16:creationId xmlns:a16="http://schemas.microsoft.com/office/drawing/2014/main" id="{8143D685-4552-7A64-3A4F-FC018728E7F7}"/>
              </a:ext>
            </a:extLst>
          </p:cNvPr>
          <p:cNvSpPr/>
          <p:nvPr/>
        </p:nvSpPr>
        <p:spPr>
          <a:xfrm>
            <a:off x="0" y="0"/>
            <a:ext cx="9144000" cy="960120"/>
          </a:xfrm>
          <a:prstGeom prst="rect">
            <a:avLst/>
          </a:prstGeom>
          <a:solidFill>
            <a:schemeClr val="bg1"/>
          </a:solidFill>
          <a:ln w="12700">
            <a:noFill/>
            <a:prstDash val="solid"/>
          </a:ln>
        </p:spPr>
        <p:txBody>
          <a:bodyPr/>
          <a:lstStyle/>
          <a:p>
            <a:endParaRPr lang="it-IT"/>
          </a:p>
        </p:txBody>
      </p:sp>
      <p:sp>
        <p:nvSpPr>
          <p:cNvPr id="4" name="Text 2">
            <a:extLst>
              <a:ext uri="{FF2B5EF4-FFF2-40B4-BE49-F238E27FC236}">
                <a16:creationId xmlns:a16="http://schemas.microsoft.com/office/drawing/2014/main" id="{B22E3EF5-8576-D7E2-35B9-FE57FF6DF0AB}"/>
              </a:ext>
            </a:extLst>
          </p:cNvPr>
          <p:cNvSpPr/>
          <p:nvPr/>
        </p:nvSpPr>
        <p:spPr>
          <a:xfrm>
            <a:off x="2617056" y="301752"/>
            <a:ext cx="3909886" cy="365760"/>
          </a:xfrm>
          <a:prstGeom prst="rect">
            <a:avLst/>
          </a:prstGeom>
          <a:noFill/>
          <a:ln/>
        </p:spPr>
        <p:txBody>
          <a:bodyPr wrap="square" lIns="0" tIns="0" rIns="0" bIns="0" rtlCol="0" anchor="ctr"/>
          <a:lstStyle/>
          <a:p>
            <a:pPr algn="ctr"/>
            <a:r>
              <a:rPr lang="en-US" b="1" dirty="0">
                <a:solidFill>
                  <a:srgbClr val="1A1A2E"/>
                </a:solidFill>
                <a:latin typeface="Times New Roman" panose="02020603050405020304" pitchFamily="18" charset="0"/>
                <a:cs typeface="Times New Roman" panose="02020603050405020304" pitchFamily="18" charset="0"/>
              </a:rPr>
              <a:t>OVERVIEW OF THE DASHBOARD </a:t>
            </a:r>
            <a:endParaRPr lang="it-IT" dirty="0">
              <a:solidFill>
                <a:srgbClr val="1A1A2E"/>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F86BAE5-6CEC-D15F-0184-F406020A5698}"/>
              </a:ext>
            </a:extLst>
          </p:cNvPr>
          <p:cNvPicPr>
            <a:picLocks noChangeAspect="1"/>
          </p:cNvPicPr>
          <p:nvPr/>
        </p:nvPicPr>
        <p:blipFill>
          <a:blip r:embed="rId4"/>
          <a:stretch>
            <a:fillRect/>
          </a:stretch>
        </p:blipFill>
        <p:spPr>
          <a:xfrm>
            <a:off x="112728" y="1338687"/>
            <a:ext cx="8918542" cy="3426246"/>
          </a:xfrm>
          <a:prstGeom prst="rect">
            <a:avLst/>
          </a:prstGeom>
        </p:spPr>
      </p:pic>
    </p:spTree>
    <p:extLst>
      <p:ext uri="{BB962C8B-B14F-4D97-AF65-F5344CB8AC3E}">
        <p14:creationId xmlns:p14="http://schemas.microsoft.com/office/powerpoint/2010/main" val="36464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a:extLst>
            <a:ext uri="{FF2B5EF4-FFF2-40B4-BE49-F238E27FC236}">
              <a16:creationId xmlns:a16="http://schemas.microsoft.com/office/drawing/2014/main" id="{8AB7AAE3-5998-A42E-4D50-52EA53BF7B6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128E13A-F8C3-A5BE-1E6C-8338DBD7AAB7}"/>
              </a:ext>
            </a:extLst>
          </p:cNvPr>
          <p:cNvSpPr/>
          <p:nvPr/>
        </p:nvSpPr>
        <p:spPr>
          <a:xfrm>
            <a:off x="0" y="0"/>
            <a:ext cx="9144000" cy="960120"/>
          </a:xfrm>
          <a:prstGeom prst="rect">
            <a:avLst/>
          </a:prstGeom>
          <a:solidFill>
            <a:srgbClr val="E8A020"/>
          </a:solidFill>
          <a:ln w="12700">
            <a:noFill/>
            <a:prstDash val="solid"/>
          </a:ln>
        </p:spPr>
        <p:txBody>
          <a:bodyPr/>
          <a:lstStyle/>
          <a:p>
            <a:endParaRPr lang="it-IT"/>
          </a:p>
        </p:txBody>
      </p:sp>
      <p:sp>
        <p:nvSpPr>
          <p:cNvPr id="5" name="Shape 3">
            <a:extLst>
              <a:ext uri="{FF2B5EF4-FFF2-40B4-BE49-F238E27FC236}">
                <a16:creationId xmlns:a16="http://schemas.microsoft.com/office/drawing/2014/main" id="{25D94AAB-CA72-580D-AD90-6EAFF3845239}"/>
              </a:ext>
            </a:extLst>
          </p:cNvPr>
          <p:cNvSpPr/>
          <p:nvPr/>
        </p:nvSpPr>
        <p:spPr>
          <a:xfrm>
            <a:off x="365760" y="1143000"/>
            <a:ext cx="7737069" cy="640080"/>
          </a:xfrm>
          <a:prstGeom prst="rect">
            <a:avLst/>
          </a:prstGeom>
          <a:solidFill>
            <a:srgbClr val="FFFFFF"/>
          </a:solidFill>
          <a:ln w="12700">
            <a:solidFill>
              <a:srgbClr val="E0E0E0"/>
            </a:solidFill>
            <a:prstDash val="solid"/>
          </a:ln>
          <a:effectLst>
            <a:outerShdw blurRad="127000" dist="38100" dir="8100000" algn="bl" rotWithShape="0">
              <a:srgbClr val="000000">
                <a:alpha val="12000"/>
              </a:srgbClr>
            </a:outerShdw>
          </a:effectLst>
        </p:spPr>
        <p:txBody>
          <a:bodyPr/>
          <a:lstStyle/>
          <a:p>
            <a:endParaRPr lang="it-IT"/>
          </a:p>
        </p:txBody>
      </p:sp>
      <p:sp>
        <p:nvSpPr>
          <p:cNvPr id="8" name="Text 6">
            <a:extLst>
              <a:ext uri="{FF2B5EF4-FFF2-40B4-BE49-F238E27FC236}">
                <a16:creationId xmlns:a16="http://schemas.microsoft.com/office/drawing/2014/main" id="{B800CAED-5F2B-E316-B0FE-2A0BB9A100DE}"/>
              </a:ext>
            </a:extLst>
          </p:cNvPr>
          <p:cNvSpPr/>
          <p:nvPr/>
        </p:nvSpPr>
        <p:spPr>
          <a:xfrm>
            <a:off x="604749" y="1234440"/>
            <a:ext cx="7498080" cy="457200"/>
          </a:xfrm>
          <a:prstGeom prst="rect">
            <a:avLst/>
          </a:prstGeom>
          <a:noFill/>
          <a:ln/>
        </p:spPr>
        <p:txBody>
          <a:bodyPr wrap="square" lIns="0" tIns="0" rIns="0" bIns="0" rtlCol="0" anchor="ctr"/>
          <a:lstStyle/>
          <a:p>
            <a:pPr marL="285750" lvl="0" indent="-285750">
              <a:buClr>
                <a:srgbClr val="E8A020"/>
              </a:buClr>
              <a:buSzPct val="125000"/>
              <a:buFont typeface="Wingdings" panose="05000000000000000000" pitchFamily="2" charset="2"/>
              <a:buChar char="v"/>
            </a:pPr>
            <a:r>
              <a:rPr lang="en-US" sz="1500" dirty="0">
                <a:latin typeface="Times New Roman" panose="02020603050405020304" pitchFamily="18" charset="0"/>
                <a:cs typeface="Times New Roman" panose="02020603050405020304" pitchFamily="18" charset="0"/>
              </a:rPr>
              <a:t>Hotels should invest in continuous staff training to improve service delivery.</a:t>
            </a:r>
            <a:endParaRPr lang="it-IT" sz="1500" dirty="0">
              <a:latin typeface="Times New Roman" panose="02020603050405020304" pitchFamily="18" charset="0"/>
              <a:cs typeface="Times New Roman" panose="02020603050405020304" pitchFamily="18" charset="0"/>
            </a:endParaRPr>
          </a:p>
        </p:txBody>
      </p:sp>
      <p:sp>
        <p:nvSpPr>
          <p:cNvPr id="9" name="Shape 7">
            <a:extLst>
              <a:ext uri="{FF2B5EF4-FFF2-40B4-BE49-F238E27FC236}">
                <a16:creationId xmlns:a16="http://schemas.microsoft.com/office/drawing/2014/main" id="{2CD9028D-3D89-2C52-028C-670C2F47382F}"/>
              </a:ext>
            </a:extLst>
          </p:cNvPr>
          <p:cNvSpPr/>
          <p:nvPr/>
        </p:nvSpPr>
        <p:spPr>
          <a:xfrm>
            <a:off x="365760" y="1892808"/>
            <a:ext cx="7737069" cy="640080"/>
          </a:xfrm>
          <a:prstGeom prst="rect">
            <a:avLst/>
          </a:prstGeom>
          <a:solidFill>
            <a:srgbClr val="FFFFFF"/>
          </a:solidFill>
          <a:ln w="12700">
            <a:solidFill>
              <a:srgbClr val="E0E0E0"/>
            </a:solidFill>
            <a:prstDash val="solid"/>
          </a:ln>
          <a:effectLst>
            <a:outerShdw blurRad="127000" dist="38100" dir="8100000" algn="bl" rotWithShape="0">
              <a:srgbClr val="000000">
                <a:alpha val="12000"/>
              </a:srgbClr>
            </a:outerShdw>
          </a:effectLst>
        </p:spPr>
        <p:txBody>
          <a:bodyPr/>
          <a:lstStyle/>
          <a:p>
            <a:endParaRPr lang="it-IT"/>
          </a:p>
        </p:txBody>
      </p:sp>
      <p:sp>
        <p:nvSpPr>
          <p:cNvPr id="12" name="Text 10">
            <a:extLst>
              <a:ext uri="{FF2B5EF4-FFF2-40B4-BE49-F238E27FC236}">
                <a16:creationId xmlns:a16="http://schemas.microsoft.com/office/drawing/2014/main" id="{D6C96302-376F-0F7E-E097-6488E631B519}"/>
              </a:ext>
            </a:extLst>
          </p:cNvPr>
          <p:cNvSpPr/>
          <p:nvPr/>
        </p:nvSpPr>
        <p:spPr>
          <a:xfrm>
            <a:off x="604749" y="1984248"/>
            <a:ext cx="7498080" cy="457200"/>
          </a:xfrm>
          <a:prstGeom prst="rect">
            <a:avLst/>
          </a:prstGeom>
          <a:noFill/>
          <a:ln/>
        </p:spPr>
        <p:txBody>
          <a:bodyPr wrap="square" lIns="0" tIns="0" rIns="0" bIns="0" rtlCol="0" anchor="ctr"/>
          <a:lstStyle/>
          <a:p>
            <a:pPr marL="285750" lvl="0" indent="-285750">
              <a:buClr>
                <a:srgbClr val="E8A020"/>
              </a:buClr>
              <a:buSzPct val="125000"/>
              <a:buFont typeface="Wingdings" panose="05000000000000000000" pitchFamily="2" charset="2"/>
              <a:buChar char="v"/>
            </a:pPr>
            <a:r>
              <a:rPr lang="en-US" sz="1500" dirty="0">
                <a:latin typeface="Times New Roman" panose="02020603050405020304" pitchFamily="18" charset="0"/>
                <a:cs typeface="Times New Roman" panose="02020603050405020304" pitchFamily="18" charset="0"/>
              </a:rPr>
              <a:t>Customer feedback should be monitored regularly to identify service gaps.</a:t>
            </a:r>
            <a:endParaRPr lang="it-IT" sz="1500" dirty="0">
              <a:latin typeface="Times New Roman" panose="02020603050405020304" pitchFamily="18" charset="0"/>
              <a:cs typeface="Times New Roman" panose="02020603050405020304" pitchFamily="18" charset="0"/>
            </a:endParaRPr>
          </a:p>
        </p:txBody>
      </p:sp>
      <p:sp>
        <p:nvSpPr>
          <p:cNvPr id="13" name="Shape 11">
            <a:extLst>
              <a:ext uri="{FF2B5EF4-FFF2-40B4-BE49-F238E27FC236}">
                <a16:creationId xmlns:a16="http://schemas.microsoft.com/office/drawing/2014/main" id="{02EE9434-1B58-C069-CF97-C2F4906F6E70}"/>
              </a:ext>
            </a:extLst>
          </p:cNvPr>
          <p:cNvSpPr/>
          <p:nvPr/>
        </p:nvSpPr>
        <p:spPr>
          <a:xfrm>
            <a:off x="365760" y="2642616"/>
            <a:ext cx="7737069" cy="640080"/>
          </a:xfrm>
          <a:prstGeom prst="rect">
            <a:avLst/>
          </a:prstGeom>
          <a:solidFill>
            <a:srgbClr val="FFFFFF"/>
          </a:solidFill>
          <a:ln w="12700">
            <a:solidFill>
              <a:srgbClr val="E0E0E0"/>
            </a:solidFill>
            <a:prstDash val="solid"/>
          </a:ln>
          <a:effectLst>
            <a:outerShdw blurRad="127000" dist="38100" dir="8100000" algn="bl" rotWithShape="0">
              <a:srgbClr val="000000">
                <a:alpha val="12000"/>
              </a:srgbClr>
            </a:outerShdw>
          </a:effectLst>
        </p:spPr>
        <p:txBody>
          <a:bodyPr/>
          <a:lstStyle/>
          <a:p>
            <a:endParaRPr lang="it-IT"/>
          </a:p>
        </p:txBody>
      </p:sp>
      <p:sp>
        <p:nvSpPr>
          <p:cNvPr id="16" name="Text 14">
            <a:extLst>
              <a:ext uri="{FF2B5EF4-FFF2-40B4-BE49-F238E27FC236}">
                <a16:creationId xmlns:a16="http://schemas.microsoft.com/office/drawing/2014/main" id="{557EEAD4-98E6-B68F-6B65-F11D93B18DA4}"/>
              </a:ext>
            </a:extLst>
          </p:cNvPr>
          <p:cNvSpPr/>
          <p:nvPr/>
        </p:nvSpPr>
        <p:spPr>
          <a:xfrm>
            <a:off x="604749" y="2734056"/>
            <a:ext cx="7498080" cy="457200"/>
          </a:xfrm>
          <a:prstGeom prst="rect">
            <a:avLst/>
          </a:prstGeom>
          <a:noFill/>
          <a:ln/>
        </p:spPr>
        <p:txBody>
          <a:bodyPr wrap="square" lIns="0" tIns="0" rIns="0" bIns="0" rtlCol="0" anchor="ctr"/>
          <a:lstStyle/>
          <a:p>
            <a:pPr marL="285750" indent="-285750">
              <a:buClr>
                <a:srgbClr val="E8A020"/>
              </a:buClr>
              <a:buSzPct val="125000"/>
              <a:buFont typeface="Wingdings" panose="05000000000000000000" pitchFamily="2" charset="2"/>
              <a:buChar char="v"/>
            </a:pPr>
            <a:r>
              <a:rPr lang="en-US" sz="1500" dirty="0">
                <a:latin typeface="Times New Roman" panose="02020603050405020304" pitchFamily="18" charset="0"/>
                <a:cs typeface="Times New Roman" panose="02020603050405020304" pitchFamily="18" charset="0"/>
              </a:rPr>
              <a:t>Greater attention should be given to food quality, comfort, and environmental conditions.</a:t>
            </a:r>
            <a:endParaRPr lang="it-IT" sz="1500" dirty="0">
              <a:latin typeface="Times New Roman" panose="02020603050405020304" pitchFamily="18" charset="0"/>
              <a:cs typeface="Times New Roman" panose="02020603050405020304" pitchFamily="18" charset="0"/>
            </a:endParaRPr>
          </a:p>
        </p:txBody>
      </p:sp>
      <p:sp>
        <p:nvSpPr>
          <p:cNvPr id="17" name="Shape 15">
            <a:extLst>
              <a:ext uri="{FF2B5EF4-FFF2-40B4-BE49-F238E27FC236}">
                <a16:creationId xmlns:a16="http://schemas.microsoft.com/office/drawing/2014/main" id="{ED176FDF-1FA0-1856-326E-12B19D9A8744}"/>
              </a:ext>
            </a:extLst>
          </p:cNvPr>
          <p:cNvSpPr/>
          <p:nvPr/>
        </p:nvSpPr>
        <p:spPr>
          <a:xfrm>
            <a:off x="365760" y="3392424"/>
            <a:ext cx="7737069" cy="640080"/>
          </a:xfrm>
          <a:prstGeom prst="rect">
            <a:avLst/>
          </a:prstGeom>
          <a:solidFill>
            <a:srgbClr val="FFFFFF"/>
          </a:solidFill>
          <a:ln w="12700">
            <a:solidFill>
              <a:srgbClr val="E0E0E0"/>
            </a:solidFill>
            <a:prstDash val="solid"/>
          </a:ln>
          <a:effectLst>
            <a:outerShdw blurRad="127000" dist="38100" dir="8100000" algn="bl" rotWithShape="0">
              <a:srgbClr val="000000">
                <a:alpha val="12000"/>
              </a:srgbClr>
            </a:outerShdw>
          </a:effectLst>
        </p:spPr>
        <p:txBody>
          <a:bodyPr/>
          <a:lstStyle/>
          <a:p>
            <a:endParaRPr lang="it-IT"/>
          </a:p>
        </p:txBody>
      </p:sp>
      <p:sp>
        <p:nvSpPr>
          <p:cNvPr id="20" name="Text 18">
            <a:extLst>
              <a:ext uri="{FF2B5EF4-FFF2-40B4-BE49-F238E27FC236}">
                <a16:creationId xmlns:a16="http://schemas.microsoft.com/office/drawing/2014/main" id="{CAF0D663-566C-B5EF-9055-8E8163D7352C}"/>
              </a:ext>
            </a:extLst>
          </p:cNvPr>
          <p:cNvSpPr/>
          <p:nvPr/>
        </p:nvSpPr>
        <p:spPr>
          <a:xfrm>
            <a:off x="604749" y="3374136"/>
            <a:ext cx="7498080" cy="457200"/>
          </a:xfrm>
          <a:prstGeom prst="rect">
            <a:avLst/>
          </a:prstGeom>
          <a:noFill/>
          <a:ln/>
        </p:spPr>
        <p:txBody>
          <a:bodyPr wrap="square" lIns="0" tIns="0" rIns="0" bIns="0" rtlCol="0" anchor="ctr"/>
          <a:lstStyle/>
          <a:p>
            <a:endParaRPr lang="en-US" sz="1500" dirty="0">
              <a:latin typeface="Times New Roman" panose="02020603050405020304" pitchFamily="18" charset="0"/>
              <a:cs typeface="Times New Roman" panose="02020603050405020304" pitchFamily="18" charset="0"/>
            </a:endParaRPr>
          </a:p>
          <a:p>
            <a:pPr marL="285750" indent="-285750">
              <a:buClr>
                <a:srgbClr val="E8A020"/>
              </a:buClr>
              <a:buSzPct val="125000"/>
              <a:buFont typeface="Wingdings" panose="05000000000000000000" pitchFamily="2" charset="2"/>
              <a:buChar char="v"/>
            </a:pPr>
            <a:r>
              <a:rPr lang="en-US" sz="1500" dirty="0">
                <a:latin typeface="Times New Roman" panose="02020603050405020304" pitchFamily="18" charset="0"/>
                <a:cs typeface="Times New Roman" panose="02020603050405020304" pitchFamily="18" charset="0"/>
              </a:rPr>
              <a:t>Hotels should leverage customer reviews to improve guest experience and increase customer loyalty.</a:t>
            </a:r>
            <a:endParaRPr lang="it-IT" sz="1500" dirty="0">
              <a:latin typeface="Times New Roman" panose="02020603050405020304" pitchFamily="18" charset="0"/>
              <a:cs typeface="Times New Roman" panose="02020603050405020304" pitchFamily="18" charset="0"/>
            </a:endParaRPr>
          </a:p>
        </p:txBody>
      </p:sp>
      <p:sp>
        <p:nvSpPr>
          <p:cNvPr id="25" name="Rectangle 24">
            <a:extLst>
              <a:ext uri="{FF2B5EF4-FFF2-40B4-BE49-F238E27FC236}">
                <a16:creationId xmlns:a16="http://schemas.microsoft.com/office/drawing/2014/main" id="{2803B178-8EBA-A279-3552-4B9786E7E956}"/>
              </a:ext>
            </a:extLst>
          </p:cNvPr>
          <p:cNvSpPr/>
          <p:nvPr/>
        </p:nvSpPr>
        <p:spPr>
          <a:xfrm>
            <a:off x="0" y="5019675"/>
            <a:ext cx="9144000" cy="126475"/>
          </a:xfrm>
          <a:prstGeom prst="rect">
            <a:avLst/>
          </a:prstGeom>
          <a:solidFill>
            <a:srgbClr val="E8A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6" name="Text 2">
            <a:extLst>
              <a:ext uri="{FF2B5EF4-FFF2-40B4-BE49-F238E27FC236}">
                <a16:creationId xmlns:a16="http://schemas.microsoft.com/office/drawing/2014/main" id="{BE2071FA-6244-BC36-D8B6-25249D86072B}"/>
              </a:ext>
            </a:extLst>
          </p:cNvPr>
          <p:cNvSpPr/>
          <p:nvPr/>
        </p:nvSpPr>
        <p:spPr>
          <a:xfrm>
            <a:off x="2905081" y="283655"/>
            <a:ext cx="2897416" cy="365760"/>
          </a:xfrm>
          <a:prstGeom prst="rect">
            <a:avLst/>
          </a:prstGeom>
          <a:noFill/>
          <a:ln/>
        </p:spPr>
        <p:txBody>
          <a:bodyPr wrap="square" lIns="0" tIns="0" rIns="0" bIns="0" rtlCol="0" anchor="ctr"/>
          <a:lstStyle/>
          <a:p>
            <a:pPr marL="0" indent="0">
              <a:buNone/>
            </a:pPr>
            <a:r>
              <a:rPr lang="en-US" b="1" kern="0" spc="200" dirty="0">
                <a:solidFill>
                  <a:srgbClr val="1A1A2E"/>
                </a:solidFill>
                <a:latin typeface="Times New Roman" panose="02020603050405020304" pitchFamily="18" charset="0"/>
                <a:cs typeface="Times New Roman" panose="02020603050405020304" pitchFamily="18" charset="0"/>
              </a:rPr>
              <a:t>RECOMMENDATIONS</a:t>
            </a:r>
            <a:endParaRPr lang="en-US" dirty="0">
              <a:solidFill>
                <a:srgbClr val="1A1A2E"/>
              </a:solidFill>
              <a:latin typeface="Times New Roman" panose="02020603050405020304" pitchFamily="18" charset="0"/>
              <a:cs typeface="Times New Roman" panose="02020603050405020304" pitchFamily="18" charset="0"/>
            </a:endParaRPr>
          </a:p>
        </p:txBody>
      </p:sp>
      <p:sp>
        <p:nvSpPr>
          <p:cNvPr id="3" name="Shape 15">
            <a:extLst>
              <a:ext uri="{FF2B5EF4-FFF2-40B4-BE49-F238E27FC236}">
                <a16:creationId xmlns:a16="http://schemas.microsoft.com/office/drawing/2014/main" id="{143FD4D1-F123-0E01-118E-10CDCA22B3F3}"/>
              </a:ext>
            </a:extLst>
          </p:cNvPr>
          <p:cNvSpPr/>
          <p:nvPr/>
        </p:nvSpPr>
        <p:spPr>
          <a:xfrm>
            <a:off x="365759" y="4142232"/>
            <a:ext cx="7737069" cy="640080"/>
          </a:xfrm>
          <a:prstGeom prst="rect">
            <a:avLst/>
          </a:prstGeom>
          <a:solidFill>
            <a:srgbClr val="FFFFFF"/>
          </a:solidFill>
          <a:ln w="12700">
            <a:solidFill>
              <a:srgbClr val="E0E0E0"/>
            </a:solidFill>
            <a:prstDash val="solid"/>
          </a:ln>
          <a:effectLst>
            <a:outerShdw blurRad="127000" dist="38100" dir="8100000" algn="bl" rotWithShape="0">
              <a:srgbClr val="000000">
                <a:alpha val="12000"/>
              </a:srgbClr>
            </a:outerShdw>
          </a:effectLst>
        </p:spPr>
        <p:txBody>
          <a:bodyPr/>
          <a:lstStyle/>
          <a:p>
            <a:endParaRPr lang="it-IT"/>
          </a:p>
        </p:txBody>
      </p:sp>
      <p:sp>
        <p:nvSpPr>
          <p:cNvPr id="4" name="Text 14">
            <a:extLst>
              <a:ext uri="{FF2B5EF4-FFF2-40B4-BE49-F238E27FC236}">
                <a16:creationId xmlns:a16="http://schemas.microsoft.com/office/drawing/2014/main" id="{B517AD67-1762-D2D7-3950-146DBBE31BB7}"/>
              </a:ext>
            </a:extLst>
          </p:cNvPr>
          <p:cNvSpPr/>
          <p:nvPr/>
        </p:nvSpPr>
        <p:spPr>
          <a:xfrm>
            <a:off x="604749" y="4233672"/>
            <a:ext cx="7498080" cy="457200"/>
          </a:xfrm>
          <a:prstGeom prst="rect">
            <a:avLst/>
          </a:prstGeom>
          <a:noFill/>
          <a:ln/>
        </p:spPr>
        <p:txBody>
          <a:bodyPr wrap="square" lIns="0" tIns="0" rIns="0" bIns="0" rtlCol="0" anchor="ctr"/>
          <a:lstStyle/>
          <a:p>
            <a:pPr marL="285750" indent="-285750">
              <a:buClr>
                <a:srgbClr val="E8A020"/>
              </a:buClr>
              <a:buSzPct val="125000"/>
              <a:buFont typeface="Wingdings" panose="05000000000000000000" pitchFamily="2" charset="2"/>
              <a:buChar char="v"/>
            </a:pPr>
            <a:r>
              <a:rPr lang="en-US" sz="1500" dirty="0">
                <a:latin typeface="Times New Roman" panose="02020603050405020304" pitchFamily="18" charset="0"/>
                <a:cs typeface="Times New Roman" panose="02020603050405020304" pitchFamily="18" charset="0"/>
              </a:rPr>
              <a:t>Management should adopt data-driven strategies for continuous service improvement.</a:t>
            </a:r>
            <a:endParaRPr lang="it-IT"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83973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1A1A2E"/>
        </a:solidFill>
        <a:effectLst/>
      </p:bgPr>
    </p:bg>
    <p:spTree>
      <p:nvGrpSpPr>
        <p:cNvPr id="1" name=""/>
        <p:cNvGrpSpPr/>
        <p:nvPr/>
      </p:nvGrpSpPr>
      <p:grpSpPr>
        <a:xfrm>
          <a:off x="0" y="0"/>
          <a:ext cx="0" cy="0"/>
          <a:chOff x="0" y="0"/>
          <a:chExt cx="0" cy="0"/>
        </a:xfrm>
      </p:grpSpPr>
      <p:pic>
        <p:nvPicPr>
          <p:cNvPr id="40" name="Picture 39">
            <a:extLst>
              <a:ext uri="{FF2B5EF4-FFF2-40B4-BE49-F238E27FC236}">
                <a16:creationId xmlns:a16="http://schemas.microsoft.com/office/drawing/2014/main" id="{1DEC9D1F-A709-6879-D357-658E042B5FD5}"/>
              </a:ext>
            </a:extLst>
          </p:cNvPr>
          <p:cNvPicPr>
            <a:picLocks noGrp="1" noRot="1" noChangeAspect="1" noMove="1" noResize="1" noEditPoints="1" noAdjustHandles="1" noChangeArrowheads="1" noChangeShapeType="1" noCrop="1"/>
          </p:cNvPicPr>
          <p:nvPr/>
        </p:nvPicPr>
        <p:blipFill>
          <a:blip r:embed="rId3">
            <a:alphaModFix amt="10000"/>
          </a:blip>
          <a:stretch>
            <a:fillRect/>
          </a:stretch>
        </p:blipFill>
        <p:spPr>
          <a:xfrm>
            <a:off x="4060" y="0"/>
            <a:ext cx="9135879" cy="5143500"/>
          </a:xfrm>
          <a:prstGeom prst="rect">
            <a:avLst/>
          </a:prstGeom>
        </p:spPr>
      </p:pic>
      <p:sp>
        <p:nvSpPr>
          <p:cNvPr id="2" name="Shape 0"/>
          <p:cNvSpPr/>
          <p:nvPr/>
        </p:nvSpPr>
        <p:spPr>
          <a:xfrm>
            <a:off x="0" y="0"/>
            <a:ext cx="9144000" cy="960120"/>
          </a:xfrm>
          <a:prstGeom prst="rect">
            <a:avLst/>
          </a:prstGeom>
          <a:solidFill>
            <a:srgbClr val="16213E"/>
          </a:solidFill>
          <a:ln w="12700">
            <a:solidFill>
              <a:srgbClr val="16213E"/>
            </a:solidFill>
            <a:prstDash val="solid"/>
          </a:ln>
        </p:spPr>
        <p:txBody>
          <a:bodyPr/>
          <a:lstStyle/>
          <a:p>
            <a:endParaRPr lang="it-IT"/>
          </a:p>
        </p:txBody>
      </p:sp>
      <p:sp>
        <p:nvSpPr>
          <p:cNvPr id="4" name="Text 2"/>
          <p:cNvSpPr/>
          <p:nvPr/>
        </p:nvSpPr>
        <p:spPr>
          <a:xfrm>
            <a:off x="2468880" y="301752"/>
            <a:ext cx="3657600" cy="365760"/>
          </a:xfrm>
          <a:prstGeom prst="rect">
            <a:avLst/>
          </a:prstGeom>
          <a:noFill/>
          <a:ln/>
        </p:spPr>
        <p:txBody>
          <a:bodyPr wrap="square" lIns="0" tIns="0" rIns="0" bIns="0" rtlCol="0" anchor="ctr"/>
          <a:lstStyle/>
          <a:p>
            <a:pPr algn="ctr"/>
            <a:r>
              <a:rPr lang="en-US" b="1" dirty="0">
                <a:solidFill>
                  <a:srgbClr val="E8A020"/>
                </a:solidFill>
                <a:latin typeface="Times New Roman" panose="02020603050405020304" pitchFamily="18" charset="0"/>
                <a:cs typeface="Times New Roman" panose="02020603050405020304" pitchFamily="18" charset="0"/>
              </a:rPr>
              <a:t>VALUE OF ANALYSIS</a:t>
            </a:r>
            <a:endParaRPr lang="it-IT" dirty="0">
              <a:solidFill>
                <a:srgbClr val="E8A020"/>
              </a:solidFill>
              <a:latin typeface="Times New Roman" panose="02020603050405020304" pitchFamily="18" charset="0"/>
              <a:cs typeface="Times New Roman" panose="02020603050405020304" pitchFamily="18" charset="0"/>
            </a:endParaRPr>
          </a:p>
        </p:txBody>
      </p:sp>
      <p:sp>
        <p:nvSpPr>
          <p:cNvPr id="6" name="Shape 4"/>
          <p:cNvSpPr/>
          <p:nvPr/>
        </p:nvSpPr>
        <p:spPr>
          <a:xfrm>
            <a:off x="2468880" y="1320476"/>
            <a:ext cx="3931920" cy="2853870"/>
          </a:xfrm>
          <a:prstGeom prst="rect">
            <a:avLst/>
          </a:prstGeom>
          <a:solidFill>
            <a:srgbClr val="1E1E3A"/>
          </a:solidFill>
          <a:ln w="12700">
            <a:noFill/>
            <a:prstDash val="solid"/>
          </a:ln>
        </p:spPr>
        <p:txBody>
          <a:bodyPr/>
          <a:lstStyle/>
          <a:p>
            <a:endParaRPr lang="it-IT"/>
          </a:p>
        </p:txBody>
      </p:sp>
      <p:sp>
        <p:nvSpPr>
          <p:cNvPr id="31" name="Rectangle 30">
            <a:extLst>
              <a:ext uri="{FF2B5EF4-FFF2-40B4-BE49-F238E27FC236}">
                <a16:creationId xmlns:a16="http://schemas.microsoft.com/office/drawing/2014/main" id="{2A469C6F-D0F9-60C7-A9AF-100998E3623F}"/>
              </a:ext>
            </a:extLst>
          </p:cNvPr>
          <p:cNvSpPr/>
          <p:nvPr/>
        </p:nvSpPr>
        <p:spPr>
          <a:xfrm>
            <a:off x="2468880" y="1330868"/>
            <a:ext cx="3931920" cy="338328"/>
          </a:xfrm>
          <a:prstGeom prst="rect">
            <a:avLst/>
          </a:prstGeom>
          <a:solidFill>
            <a:srgbClr val="E8A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Text 3"/>
          <p:cNvSpPr/>
          <p:nvPr/>
        </p:nvSpPr>
        <p:spPr>
          <a:xfrm>
            <a:off x="2863686" y="1362872"/>
            <a:ext cx="3142308" cy="274320"/>
          </a:xfrm>
          <a:prstGeom prst="rect">
            <a:avLst/>
          </a:prstGeom>
          <a:noFill/>
          <a:ln/>
        </p:spPr>
        <p:txBody>
          <a:bodyPr wrap="square" lIns="0" tIns="0" rIns="0" bIns="0" rtlCol="0" anchor="ctr"/>
          <a:lstStyle/>
          <a:p>
            <a:r>
              <a:rPr lang="en-US" dirty="0">
                <a:latin typeface="Times New Roman" panose="02020603050405020304" pitchFamily="18" charset="0"/>
                <a:cs typeface="Times New Roman" panose="02020603050405020304" pitchFamily="18" charset="0"/>
              </a:rPr>
              <a:t>Who is this analysis useful for?</a:t>
            </a:r>
            <a:endParaRPr lang="it-IT" dirty="0">
              <a:latin typeface="Times New Roman" panose="02020603050405020304" pitchFamily="18" charset="0"/>
              <a:cs typeface="Times New Roman" panose="02020603050405020304" pitchFamily="18" charset="0"/>
            </a:endParaRPr>
          </a:p>
        </p:txBody>
      </p:sp>
      <p:sp>
        <p:nvSpPr>
          <p:cNvPr id="34" name="Text 5">
            <a:extLst>
              <a:ext uri="{FF2B5EF4-FFF2-40B4-BE49-F238E27FC236}">
                <a16:creationId xmlns:a16="http://schemas.microsoft.com/office/drawing/2014/main" id="{407680A7-6652-1A7C-58DC-38FFFA3581FD}"/>
              </a:ext>
            </a:extLst>
          </p:cNvPr>
          <p:cNvSpPr/>
          <p:nvPr/>
        </p:nvSpPr>
        <p:spPr>
          <a:xfrm>
            <a:off x="2811636" y="1792950"/>
            <a:ext cx="3566160" cy="2044447"/>
          </a:xfrm>
          <a:prstGeom prst="rect">
            <a:avLst/>
          </a:prstGeom>
          <a:noFill/>
          <a:ln/>
        </p:spPr>
        <p:txBody>
          <a:bodyPr wrap="square" lIns="0" tIns="0" rIns="0" bIns="0" rtlCol="0" anchor="ctr"/>
          <a:lstStyle/>
          <a:p>
            <a:pPr marL="285750" indent="-285750">
              <a:lnSpc>
                <a:spcPct val="150000"/>
              </a:lnSpc>
              <a:buClr>
                <a:srgbClr val="E8A020"/>
              </a:buClr>
              <a:buFont typeface="Wingdings" panose="05000000000000000000" pitchFamily="2" charset="2"/>
              <a:buChar char="Ø"/>
            </a:pPr>
            <a:r>
              <a:rPr lang="en-US" sz="1500" dirty="0">
                <a:solidFill>
                  <a:schemeClr val="bg1"/>
                </a:solidFill>
                <a:latin typeface="Times New Roman" panose="02020603050405020304" pitchFamily="18" charset="0"/>
                <a:cs typeface="Times New Roman" panose="02020603050405020304" pitchFamily="18" charset="0"/>
              </a:rPr>
              <a:t>Hotel Owners and Management</a:t>
            </a:r>
            <a:endParaRPr lang="it-IT" sz="1500" dirty="0">
              <a:solidFill>
                <a:schemeClr val="bg1"/>
              </a:solidFill>
              <a:latin typeface="Times New Roman" panose="02020603050405020304" pitchFamily="18" charset="0"/>
              <a:cs typeface="Times New Roman" panose="02020603050405020304" pitchFamily="18" charset="0"/>
            </a:endParaRPr>
          </a:p>
          <a:p>
            <a:pPr marL="285750" indent="-285750">
              <a:lnSpc>
                <a:spcPct val="150000"/>
              </a:lnSpc>
              <a:buClr>
                <a:srgbClr val="E8A020"/>
              </a:buClr>
              <a:buFont typeface="Wingdings" panose="05000000000000000000" pitchFamily="2" charset="2"/>
              <a:buChar char="Ø"/>
            </a:pPr>
            <a:r>
              <a:rPr lang="en-US" sz="1500" dirty="0">
                <a:solidFill>
                  <a:schemeClr val="bg1"/>
                </a:solidFill>
                <a:latin typeface="Times New Roman" panose="02020603050405020304" pitchFamily="18" charset="0"/>
                <a:cs typeface="Times New Roman" panose="02020603050405020304" pitchFamily="18" charset="0"/>
              </a:rPr>
              <a:t>Hospitality Industry Stakeholders</a:t>
            </a:r>
            <a:endParaRPr lang="it-IT" sz="1500" dirty="0">
              <a:solidFill>
                <a:schemeClr val="bg1"/>
              </a:solidFill>
              <a:latin typeface="Times New Roman" panose="02020603050405020304" pitchFamily="18" charset="0"/>
              <a:cs typeface="Times New Roman" panose="02020603050405020304" pitchFamily="18" charset="0"/>
            </a:endParaRPr>
          </a:p>
          <a:p>
            <a:pPr marL="285750" indent="-285750">
              <a:lnSpc>
                <a:spcPct val="150000"/>
              </a:lnSpc>
              <a:buClr>
                <a:srgbClr val="E8A020"/>
              </a:buClr>
              <a:buFont typeface="Wingdings" panose="05000000000000000000" pitchFamily="2" charset="2"/>
              <a:buChar char="Ø"/>
            </a:pPr>
            <a:r>
              <a:rPr lang="en-US" sz="1500" dirty="0">
                <a:solidFill>
                  <a:schemeClr val="bg1"/>
                </a:solidFill>
                <a:latin typeface="Times New Roman" panose="02020603050405020304" pitchFamily="18" charset="0"/>
                <a:cs typeface="Times New Roman" panose="02020603050405020304" pitchFamily="18" charset="0"/>
              </a:rPr>
              <a:t>Customer Experience Managers</a:t>
            </a:r>
            <a:endParaRPr lang="it-IT" sz="1500" dirty="0">
              <a:solidFill>
                <a:schemeClr val="bg1"/>
              </a:solidFill>
              <a:latin typeface="Times New Roman" panose="02020603050405020304" pitchFamily="18" charset="0"/>
              <a:cs typeface="Times New Roman" panose="02020603050405020304" pitchFamily="18" charset="0"/>
            </a:endParaRPr>
          </a:p>
          <a:p>
            <a:pPr marL="285750" indent="-285750">
              <a:lnSpc>
                <a:spcPct val="150000"/>
              </a:lnSpc>
              <a:buClr>
                <a:srgbClr val="E8A020"/>
              </a:buClr>
              <a:buFont typeface="Wingdings" panose="05000000000000000000" pitchFamily="2" charset="2"/>
              <a:buChar char="Ø"/>
            </a:pPr>
            <a:r>
              <a:rPr lang="en-US" sz="1500" dirty="0">
                <a:solidFill>
                  <a:schemeClr val="bg1"/>
                </a:solidFill>
                <a:latin typeface="Times New Roman" panose="02020603050405020304" pitchFamily="18" charset="0"/>
                <a:cs typeface="Times New Roman" panose="02020603050405020304" pitchFamily="18" charset="0"/>
              </a:rPr>
              <a:t>Potential Investors</a:t>
            </a:r>
            <a:endParaRPr lang="it-IT" sz="1500" dirty="0">
              <a:solidFill>
                <a:schemeClr val="bg1"/>
              </a:solidFill>
              <a:latin typeface="Times New Roman" panose="02020603050405020304" pitchFamily="18" charset="0"/>
              <a:cs typeface="Times New Roman" panose="02020603050405020304" pitchFamily="18" charset="0"/>
            </a:endParaRPr>
          </a:p>
          <a:p>
            <a:pPr marL="285750" indent="-285750">
              <a:lnSpc>
                <a:spcPct val="150000"/>
              </a:lnSpc>
              <a:buClr>
                <a:srgbClr val="E8A020"/>
              </a:buClr>
              <a:buFont typeface="Wingdings" panose="05000000000000000000" pitchFamily="2" charset="2"/>
              <a:buChar char="Ø"/>
            </a:pPr>
            <a:r>
              <a:rPr lang="en-US" sz="1500" dirty="0">
                <a:solidFill>
                  <a:schemeClr val="bg1"/>
                </a:solidFill>
                <a:latin typeface="Times New Roman" panose="02020603050405020304" pitchFamily="18" charset="0"/>
                <a:cs typeface="Times New Roman" panose="02020603050405020304" pitchFamily="18" charset="0"/>
              </a:rPr>
              <a:t>Researchers and Academics</a:t>
            </a:r>
            <a:endParaRPr lang="it-IT" sz="1500" dirty="0">
              <a:solidFill>
                <a:schemeClr val="bg1"/>
              </a:solidFill>
              <a:latin typeface="Times New Roman" panose="02020603050405020304" pitchFamily="18" charset="0"/>
              <a:cs typeface="Times New Roman" panose="02020603050405020304" pitchFamily="18" charset="0"/>
            </a:endParaRPr>
          </a:p>
          <a:p>
            <a:pPr marL="285750" indent="-285750">
              <a:lnSpc>
                <a:spcPct val="150000"/>
              </a:lnSpc>
              <a:buClr>
                <a:srgbClr val="E8A020"/>
              </a:buClr>
              <a:buFont typeface="Wingdings" panose="05000000000000000000" pitchFamily="2" charset="2"/>
              <a:buChar char="Ø"/>
            </a:pPr>
            <a:r>
              <a:rPr lang="en-US" sz="1500" dirty="0">
                <a:solidFill>
                  <a:schemeClr val="bg1"/>
                </a:solidFill>
                <a:latin typeface="Times New Roman" panose="02020603050405020304" pitchFamily="18" charset="0"/>
                <a:cs typeface="Times New Roman" panose="02020603050405020304" pitchFamily="18" charset="0"/>
              </a:rPr>
              <a:t>Tourism Development Agencies</a:t>
            </a:r>
            <a:endParaRPr lang="it-IT" sz="1500" dirty="0">
              <a:solidFill>
                <a:schemeClr val="bg1"/>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BAAF009B-302B-4CBC-1580-A5B8F608F607}"/>
              </a:ext>
            </a:extLst>
          </p:cNvPr>
          <p:cNvSpPr/>
          <p:nvPr/>
        </p:nvSpPr>
        <p:spPr>
          <a:xfrm>
            <a:off x="0" y="5019675"/>
            <a:ext cx="9144000" cy="126475"/>
          </a:xfrm>
          <a:prstGeom prst="rect">
            <a:avLst/>
          </a:prstGeom>
          <a:solidFill>
            <a:srgbClr val="E8A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a:extLst>
            <a:ext uri="{FF2B5EF4-FFF2-40B4-BE49-F238E27FC236}">
              <a16:creationId xmlns:a16="http://schemas.microsoft.com/office/drawing/2014/main" id="{26B93DBB-A8C7-2A6D-2647-56733983231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4D662B7-A368-60B5-A6E6-14E4EE561BBE}"/>
              </a:ext>
            </a:extLst>
          </p:cNvPr>
          <p:cNvSpPr/>
          <p:nvPr/>
        </p:nvSpPr>
        <p:spPr>
          <a:xfrm>
            <a:off x="0" y="0"/>
            <a:ext cx="9144000" cy="960120"/>
          </a:xfrm>
          <a:prstGeom prst="rect">
            <a:avLst/>
          </a:prstGeom>
          <a:solidFill>
            <a:srgbClr val="E8A020"/>
          </a:solidFill>
          <a:ln w="12700">
            <a:noFill/>
            <a:prstDash val="solid"/>
          </a:ln>
        </p:spPr>
        <p:txBody>
          <a:bodyPr/>
          <a:lstStyle/>
          <a:p>
            <a:endParaRPr lang="it-IT"/>
          </a:p>
        </p:txBody>
      </p:sp>
      <p:sp>
        <p:nvSpPr>
          <p:cNvPr id="25" name="Rectangle 24">
            <a:extLst>
              <a:ext uri="{FF2B5EF4-FFF2-40B4-BE49-F238E27FC236}">
                <a16:creationId xmlns:a16="http://schemas.microsoft.com/office/drawing/2014/main" id="{5B99DB34-2A1F-8BF6-C479-A0D9CC62B63F}"/>
              </a:ext>
            </a:extLst>
          </p:cNvPr>
          <p:cNvSpPr/>
          <p:nvPr/>
        </p:nvSpPr>
        <p:spPr>
          <a:xfrm>
            <a:off x="0" y="5019675"/>
            <a:ext cx="9144000" cy="126475"/>
          </a:xfrm>
          <a:prstGeom prst="rect">
            <a:avLst/>
          </a:prstGeom>
          <a:solidFill>
            <a:srgbClr val="E8A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6" name="Text 2">
            <a:extLst>
              <a:ext uri="{FF2B5EF4-FFF2-40B4-BE49-F238E27FC236}">
                <a16:creationId xmlns:a16="http://schemas.microsoft.com/office/drawing/2014/main" id="{A58CB77D-AFF1-B489-A358-15B001BAE652}"/>
              </a:ext>
            </a:extLst>
          </p:cNvPr>
          <p:cNvSpPr/>
          <p:nvPr/>
        </p:nvSpPr>
        <p:spPr>
          <a:xfrm>
            <a:off x="2633040" y="283655"/>
            <a:ext cx="3877917" cy="365760"/>
          </a:xfrm>
          <a:prstGeom prst="rect">
            <a:avLst/>
          </a:prstGeom>
          <a:noFill/>
          <a:ln/>
        </p:spPr>
        <p:txBody>
          <a:bodyPr wrap="square" lIns="0" tIns="0" rIns="0" bIns="0" rtlCol="0" anchor="ctr"/>
          <a:lstStyle/>
          <a:p>
            <a:pPr marL="0" indent="0" algn="ctr">
              <a:buNone/>
            </a:pPr>
            <a:r>
              <a:rPr lang="en-US" b="1" kern="0" spc="200" dirty="0">
                <a:solidFill>
                  <a:srgbClr val="1A1A2E"/>
                </a:solidFill>
                <a:latin typeface="Times New Roman" panose="02020603050405020304" pitchFamily="18" charset="0"/>
                <a:cs typeface="Times New Roman" panose="02020603050405020304" pitchFamily="18" charset="0"/>
              </a:rPr>
              <a:t>CONCLUSION</a:t>
            </a:r>
            <a:endParaRPr lang="en-US" dirty="0">
              <a:solidFill>
                <a:srgbClr val="1A1A2E"/>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74155F8E-5394-9297-7666-D9819EC67330}"/>
              </a:ext>
            </a:extLst>
          </p:cNvPr>
          <p:cNvSpPr/>
          <p:nvPr/>
        </p:nvSpPr>
        <p:spPr>
          <a:xfrm>
            <a:off x="0" y="5019675"/>
            <a:ext cx="9144000" cy="126475"/>
          </a:xfrm>
          <a:prstGeom prst="rect">
            <a:avLst/>
          </a:prstGeom>
          <a:solidFill>
            <a:srgbClr val="E8A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1" name="Picture 10">
            <a:extLst>
              <a:ext uri="{FF2B5EF4-FFF2-40B4-BE49-F238E27FC236}">
                <a16:creationId xmlns:a16="http://schemas.microsoft.com/office/drawing/2014/main" id="{C1CF0E1C-DC1F-C6D6-2C61-307C14CB455D}"/>
              </a:ext>
            </a:extLst>
          </p:cNvPr>
          <p:cNvPicPr>
            <a:picLocks noChangeAspect="1"/>
          </p:cNvPicPr>
          <p:nvPr/>
        </p:nvPicPr>
        <p:blipFill>
          <a:blip r:embed="rId3">
            <a:alphaModFix amt="90000"/>
          </a:blip>
          <a:stretch>
            <a:fillRect/>
          </a:stretch>
        </p:blipFill>
        <p:spPr>
          <a:xfrm>
            <a:off x="6002220" y="3124199"/>
            <a:ext cx="3141780" cy="1895475"/>
          </a:xfrm>
          <a:prstGeom prst="rect">
            <a:avLst/>
          </a:prstGeom>
        </p:spPr>
      </p:pic>
      <p:pic>
        <p:nvPicPr>
          <p:cNvPr id="14" name="Picture 13">
            <a:extLst>
              <a:ext uri="{FF2B5EF4-FFF2-40B4-BE49-F238E27FC236}">
                <a16:creationId xmlns:a16="http://schemas.microsoft.com/office/drawing/2014/main" id="{262417AA-4F8C-058F-6CF7-77286B6381A0}"/>
              </a:ext>
            </a:extLst>
          </p:cNvPr>
          <p:cNvPicPr>
            <a:picLocks noChangeAspect="1"/>
          </p:cNvPicPr>
          <p:nvPr/>
        </p:nvPicPr>
        <p:blipFill>
          <a:blip r:embed="rId4">
            <a:alphaModFix amt="90000"/>
          </a:blip>
          <a:stretch>
            <a:fillRect/>
          </a:stretch>
        </p:blipFill>
        <p:spPr>
          <a:xfrm>
            <a:off x="2883145" y="3124199"/>
            <a:ext cx="3119075" cy="1901877"/>
          </a:xfrm>
          <a:prstGeom prst="rect">
            <a:avLst/>
          </a:prstGeom>
        </p:spPr>
      </p:pic>
      <p:pic>
        <p:nvPicPr>
          <p:cNvPr id="15" name="Picture 14">
            <a:extLst>
              <a:ext uri="{FF2B5EF4-FFF2-40B4-BE49-F238E27FC236}">
                <a16:creationId xmlns:a16="http://schemas.microsoft.com/office/drawing/2014/main" id="{C499580B-B3A6-69F4-6BD4-CF463E42332E}"/>
              </a:ext>
            </a:extLst>
          </p:cNvPr>
          <p:cNvPicPr>
            <a:picLocks noChangeAspect="1"/>
          </p:cNvPicPr>
          <p:nvPr/>
        </p:nvPicPr>
        <p:blipFill>
          <a:blip r:embed="rId5">
            <a:alphaModFix amt="90000"/>
          </a:blip>
          <a:stretch>
            <a:fillRect/>
          </a:stretch>
        </p:blipFill>
        <p:spPr>
          <a:xfrm>
            <a:off x="0" y="3124200"/>
            <a:ext cx="2883145" cy="1901876"/>
          </a:xfrm>
          <a:prstGeom prst="rect">
            <a:avLst/>
          </a:prstGeom>
        </p:spPr>
      </p:pic>
      <p:sp>
        <p:nvSpPr>
          <p:cNvPr id="4" name="TextBox 3">
            <a:extLst>
              <a:ext uri="{FF2B5EF4-FFF2-40B4-BE49-F238E27FC236}">
                <a16:creationId xmlns:a16="http://schemas.microsoft.com/office/drawing/2014/main" id="{DAB354F9-ACFB-295F-CC9D-8006F85D9737}"/>
              </a:ext>
            </a:extLst>
          </p:cNvPr>
          <p:cNvSpPr txBox="1"/>
          <p:nvPr/>
        </p:nvSpPr>
        <p:spPr>
          <a:xfrm>
            <a:off x="316865" y="1105334"/>
            <a:ext cx="8251634" cy="1708160"/>
          </a:xfrm>
          <a:prstGeom prst="rect">
            <a:avLst/>
          </a:prstGeom>
          <a:noFill/>
        </p:spPr>
        <p:txBody>
          <a:bodyPr wrap="square" rtlCol="0">
            <a:spAutoFit/>
          </a:bodyPr>
          <a:lstStyle/>
          <a:p>
            <a:pPr algn="just"/>
            <a:r>
              <a:rPr lang="en-US" sz="1500" dirty="0">
                <a:solidFill>
                  <a:srgbClr val="1A1A2E"/>
                </a:solidFill>
                <a:latin typeface="Times New Roman" panose="02020603050405020304" pitchFamily="18" charset="0"/>
                <a:cs typeface="Times New Roman" panose="02020603050405020304" pitchFamily="18" charset="0"/>
              </a:rPr>
              <a:t>The analysis revealed that customer satisfaction across the selected hotels was remarkably high, highlighting the strong performance of Abuja's hospitality sector. Among all factors evaluated, service quality stood out as the key driver of guest satisfaction, proving that exceptional service has the greatest impact on customer perceptions and experiences. While some hotels outperformed others, the findings clearly demonstrate that investments in service excellence can significantly boost customer ratings, strengthen brand reputation, encourage repeat patronage, and create a lasting competitive advantage in the hospitality industry.</a:t>
            </a:r>
            <a:endParaRPr lang="it-IT" sz="1500" dirty="0">
              <a:solidFill>
                <a:srgbClr val="1A1A2E"/>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48668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a:extLst>
            <a:ext uri="{FF2B5EF4-FFF2-40B4-BE49-F238E27FC236}">
              <a16:creationId xmlns:a16="http://schemas.microsoft.com/office/drawing/2014/main" id="{ED802A9B-0C5A-7995-FE8B-BACD1DE082E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BB710F2-331A-2C24-C189-080E0A226F5E}"/>
              </a:ext>
            </a:extLst>
          </p:cNvPr>
          <p:cNvPicPr>
            <a:picLocks noGrp="1" noRot="1" noChangeAspect="1" noMove="1" noResize="1" noEditPoints="1" noAdjustHandles="1" noChangeArrowheads="1" noChangeShapeType="1" noCrop="1"/>
          </p:cNvPicPr>
          <p:nvPr/>
        </p:nvPicPr>
        <p:blipFill>
          <a:blip r:embed="rId3">
            <a:alphaModFix amt="10000"/>
          </a:blip>
          <a:stretch>
            <a:fillRect/>
          </a:stretch>
        </p:blipFill>
        <p:spPr>
          <a:xfrm>
            <a:off x="0" y="0"/>
            <a:ext cx="9144000" cy="5143500"/>
          </a:xfrm>
          <a:prstGeom prst="rect">
            <a:avLst/>
          </a:prstGeom>
        </p:spPr>
      </p:pic>
      <p:sp>
        <p:nvSpPr>
          <p:cNvPr id="22" name="Rectangle 21">
            <a:extLst>
              <a:ext uri="{FF2B5EF4-FFF2-40B4-BE49-F238E27FC236}">
                <a16:creationId xmlns:a16="http://schemas.microsoft.com/office/drawing/2014/main" id="{0CF1C9E1-7864-0919-7859-3957B8B4B658}"/>
              </a:ext>
            </a:extLst>
          </p:cNvPr>
          <p:cNvSpPr/>
          <p:nvPr/>
        </p:nvSpPr>
        <p:spPr>
          <a:xfrm>
            <a:off x="0" y="5019675"/>
            <a:ext cx="9144000" cy="126475"/>
          </a:xfrm>
          <a:prstGeom prst="rect">
            <a:avLst/>
          </a:prstGeom>
          <a:solidFill>
            <a:srgbClr val="E8A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TextBox 7">
            <a:extLst>
              <a:ext uri="{FF2B5EF4-FFF2-40B4-BE49-F238E27FC236}">
                <a16:creationId xmlns:a16="http://schemas.microsoft.com/office/drawing/2014/main" id="{1A899E08-4EFB-2963-4799-9135E94204A5}"/>
              </a:ext>
            </a:extLst>
          </p:cNvPr>
          <p:cNvSpPr txBox="1"/>
          <p:nvPr/>
        </p:nvSpPr>
        <p:spPr>
          <a:xfrm>
            <a:off x="2089297" y="1256005"/>
            <a:ext cx="4965405" cy="2631490"/>
          </a:xfrm>
          <a:prstGeom prst="rect">
            <a:avLst/>
          </a:prstGeom>
          <a:noFill/>
        </p:spPr>
        <p:txBody>
          <a:bodyPr wrap="square" rtlCol="0">
            <a:spAutoFit/>
          </a:bodyPr>
          <a:lstStyle/>
          <a:p>
            <a:pPr algn="ctr"/>
            <a:r>
              <a:rPr lang="it-IT" sz="5500" b="1" dirty="0">
                <a:solidFill>
                  <a:schemeClr val="bg1"/>
                </a:solidFill>
                <a:latin typeface="Bradley Hand ITC" panose="03070402050302030203" pitchFamily="66" charset="0"/>
                <a:cs typeface="Dreaming Outloud Pro" panose="020F0502020204030204" pitchFamily="66" charset="0"/>
              </a:rPr>
              <a:t>Thank you</a:t>
            </a:r>
          </a:p>
          <a:p>
            <a:pPr algn="ctr"/>
            <a:r>
              <a:rPr lang="it-IT" sz="5500" b="1" dirty="0">
                <a:solidFill>
                  <a:schemeClr val="bg1"/>
                </a:solidFill>
                <a:latin typeface="Bradley Hand ITC" panose="03070402050302030203" pitchFamily="66" charset="0"/>
                <a:cs typeface="Dreaming Outloud Pro" panose="020F0502020204030204" pitchFamily="66" charset="0"/>
              </a:rPr>
              <a:t> for</a:t>
            </a:r>
          </a:p>
          <a:p>
            <a:pPr algn="ctr"/>
            <a:r>
              <a:rPr lang="it-IT" sz="5500" b="1" dirty="0">
                <a:solidFill>
                  <a:schemeClr val="bg1"/>
                </a:solidFill>
                <a:latin typeface="Bradley Hand ITC" panose="03070402050302030203" pitchFamily="66" charset="0"/>
                <a:cs typeface="Dreaming Outloud Pro" panose="020F0502020204030204" pitchFamily="66" charset="0"/>
              </a:rPr>
              <a:t>Listening!</a:t>
            </a:r>
          </a:p>
        </p:txBody>
      </p:sp>
      <p:sp>
        <p:nvSpPr>
          <p:cNvPr id="9" name="Isosceles Triangle 8">
            <a:extLst>
              <a:ext uri="{FF2B5EF4-FFF2-40B4-BE49-F238E27FC236}">
                <a16:creationId xmlns:a16="http://schemas.microsoft.com/office/drawing/2014/main" id="{197D7518-F691-4263-CF12-66E09CB4AA19}"/>
              </a:ext>
            </a:extLst>
          </p:cNvPr>
          <p:cNvSpPr/>
          <p:nvPr/>
        </p:nvSpPr>
        <p:spPr>
          <a:xfrm rot="10800000">
            <a:off x="7643192" y="-449488"/>
            <a:ext cx="1500808" cy="1226728"/>
          </a:xfrm>
          <a:prstGeom prst="triangle">
            <a:avLst/>
          </a:prstGeom>
          <a:solidFill>
            <a:srgbClr val="E8A020">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3999342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726</TotalTime>
  <Words>1221</Words>
  <Application>Microsoft Office PowerPoint</Application>
  <PresentationFormat>On-screen Show (16:9)</PresentationFormat>
  <Paragraphs>92</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Bradley Hand ITC</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PptxOlubunmi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Hospitality Capstone Proposal - Topic 8</dc:title>
  <dc:subject>Presentation</dc:subject>
  <dc:creator>Olubunmi</dc:creator>
  <cp:lastModifiedBy>HP</cp:lastModifiedBy>
  <cp:revision>21</cp:revision>
  <dcterms:created xsi:type="dcterms:W3CDTF">2026-05-20T08:04:13Z</dcterms:created>
  <dcterms:modified xsi:type="dcterms:W3CDTF">2026-09-10T14:46:34Z</dcterms:modified>
</cp:coreProperties>
</file>